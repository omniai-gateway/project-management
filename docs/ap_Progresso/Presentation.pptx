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71" r:id="rId6"/>
    <p:sldId id="260" r:id="rId7"/>
    <p:sldId id="263" r:id="rId8"/>
    <p:sldId id="259" r:id="rId9"/>
    <p:sldId id="266" r:id="rId10"/>
    <p:sldId id="270" r:id="rId11"/>
    <p:sldId id="267" r:id="rId12"/>
    <p:sldId id="268" r:id="rId13"/>
    <p:sldId id="265" r:id="rId14"/>
    <p:sldId id="261" r:id="rId15"/>
    <p:sldId id="262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03/06/2026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276704" y="2723137"/>
            <a:ext cx="2818319" cy="490359"/>
          </a:xfrm>
          <a:noFill/>
        </p:spPr>
        <p:txBody>
          <a:bodyPr>
            <a:noAutofit/>
          </a:bodyPr>
          <a:lstStyle/>
          <a:p>
            <a:pPr algn="l"/>
            <a:r>
              <a:rPr lang="pt-PT" sz="2800" b="1">
                <a:latin typeface="Garamond"/>
                <a:ea typeface="+mj-lt"/>
                <a:cs typeface="+mj-lt"/>
              </a:rPr>
              <a:t>OmniAI Gateway</a:t>
            </a:r>
            <a:endParaRPr lang="pt-PT" sz="2800" b="1">
              <a:latin typeface="Garamond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56172" y="4817989"/>
            <a:ext cx="7047971" cy="173845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PT" sz="2000">
                <a:latin typeface="Garamond"/>
                <a:ea typeface="+mn-lt"/>
                <a:cs typeface="+mn-lt"/>
              </a:rPr>
              <a:t>Autores:  Guilherme Coutinho                                  </a:t>
            </a:r>
            <a:br>
              <a:rPr lang="pt-PT" sz="2000">
                <a:latin typeface="Garamond"/>
                <a:ea typeface="+mn-lt"/>
                <a:cs typeface="+mn-lt"/>
              </a:rPr>
            </a:br>
            <a:r>
              <a:rPr lang="pt-PT" sz="2000">
                <a:latin typeface="Garamond"/>
                <a:ea typeface="+mn-lt"/>
                <a:cs typeface="+mn-lt"/>
              </a:rPr>
              <a:t>               André Nunes</a:t>
            </a:r>
          </a:p>
          <a:p>
            <a:pPr algn="l"/>
            <a:endParaRPr lang="pt-PT" sz="2000">
              <a:latin typeface="Garamond"/>
              <a:ea typeface="+mn-lt"/>
              <a:cs typeface="+mn-lt"/>
            </a:endParaRPr>
          </a:p>
          <a:p>
            <a:pPr algn="l"/>
            <a:r>
              <a:rPr lang="pt-PT" sz="2000">
                <a:latin typeface="Garamond"/>
                <a:ea typeface="+mn-lt"/>
                <a:cs typeface="+mn-lt"/>
              </a:rPr>
              <a:t>Orientador: Pedro Félix</a:t>
            </a:r>
          </a:p>
        </p:txBody>
      </p:sp>
      <p:pic>
        <p:nvPicPr>
          <p:cNvPr id="4" name="Imagem 3" descr="Uma imagem com captura de ecrã, círculo, file, Simetria&#10;&#10;Os conteúdos gerados por IA poderão estar incorretos.">
            <a:extLst>
              <a:ext uri="{FF2B5EF4-FFF2-40B4-BE49-F238E27FC236}">
                <a16:creationId xmlns:a16="http://schemas.microsoft.com/office/drawing/2014/main" id="{E5DBCDE9-BFCB-2E7E-AF26-D7C06DA9B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7" r="1699"/>
          <a:stretch>
            <a:fillRect/>
          </a:stretch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  <p:pic>
        <p:nvPicPr>
          <p:cNvPr id="5" name="Imagem 4" descr="Instituto Superior de Engenharia de Lisboa | Politécnico de Lisboa">
            <a:extLst>
              <a:ext uri="{FF2B5EF4-FFF2-40B4-BE49-F238E27FC236}">
                <a16:creationId xmlns:a16="http://schemas.microsoft.com/office/drawing/2014/main" id="{66FA72CC-9335-ADDB-54CB-19EAB1D6B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722" y="2482"/>
            <a:ext cx="2743200" cy="1701664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934B1B58-0BA3-2164-0216-CD125D9704CB}"/>
              </a:ext>
            </a:extLst>
          </p:cNvPr>
          <p:cNvSpPr txBox="1">
            <a:spLocks/>
          </p:cNvSpPr>
          <p:nvPr/>
        </p:nvSpPr>
        <p:spPr>
          <a:xfrm>
            <a:off x="5397103" y="1439888"/>
            <a:ext cx="6788448" cy="177140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PT" sz="3600">
                <a:latin typeface="Cooper Black"/>
                <a:ea typeface="+mj-lt"/>
                <a:cs typeface="+mj-lt"/>
              </a:rPr>
              <a:t>Apresentação de Progresso </a:t>
            </a:r>
          </a:p>
          <a:p>
            <a:pPr algn="l"/>
            <a:endParaRPr lang="pt-PT" sz="3600">
              <a:latin typeface="Cooper Black"/>
            </a:endParaRP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860A79A-6B8A-12A4-E119-11AEC07C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dirty="0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FD56F8F-302F-DD72-1769-568FA358F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17" y="1046557"/>
            <a:ext cx="11931220" cy="57975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>
                <a:latin typeface="Calibri"/>
                <a:ea typeface="Calibri"/>
                <a:cs typeface="Calibri"/>
              </a:rPr>
              <a:t>As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APIs</a:t>
            </a:r>
            <a:r>
              <a:rPr lang="pt-PT" sz="2400" b="1">
                <a:latin typeface="Calibri"/>
                <a:ea typeface="Calibri"/>
                <a:cs typeface="Calibri"/>
              </a:rPr>
              <a:t> de inferência</a:t>
            </a:r>
            <a:r>
              <a:rPr lang="pt-PT" sz="2400">
                <a:latin typeface="Calibri"/>
                <a:ea typeface="Calibri"/>
                <a:cs typeface="Calibri"/>
              </a:rPr>
              <a:t> são hoje o principal meio de aceder a modelos de inteligência artificial generativa. </a:t>
            </a:r>
          </a:p>
          <a:p>
            <a:pPr marL="342900" indent="-342900">
              <a:lnSpc>
                <a:spcPct val="110000"/>
              </a:lnSpc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>
                <a:latin typeface="Calibri"/>
                <a:ea typeface="Calibri"/>
                <a:cs typeface="Calibri"/>
              </a:rPr>
              <a:t>Cada fornecedor impõe os seus próprios</a:t>
            </a:r>
            <a:r>
              <a:rPr lang="pt-PT" sz="2400" b="1">
                <a:latin typeface="Calibri"/>
                <a:ea typeface="Calibri"/>
                <a:cs typeface="Calibri"/>
              </a:rPr>
              <a:t> formatos</a:t>
            </a:r>
            <a:r>
              <a:rPr lang="pt-PT" sz="2400">
                <a:latin typeface="Calibri"/>
                <a:ea typeface="Calibri"/>
                <a:cs typeface="Calibri"/>
              </a:rPr>
              <a:t>, </a:t>
            </a:r>
            <a:r>
              <a:rPr lang="pt-PT" sz="2400" b="1">
                <a:latin typeface="Calibri"/>
                <a:ea typeface="Calibri"/>
                <a:cs typeface="Calibri"/>
              </a:rPr>
              <a:t>protocolos</a:t>
            </a:r>
            <a:r>
              <a:rPr lang="pt-PT" sz="2400">
                <a:latin typeface="Calibri"/>
                <a:ea typeface="Calibri"/>
                <a:cs typeface="Calibri"/>
              </a:rPr>
              <a:t> e </a:t>
            </a:r>
            <a:r>
              <a:rPr lang="pt-PT" sz="2400" b="1">
                <a:latin typeface="Calibri"/>
                <a:ea typeface="Calibri"/>
                <a:cs typeface="Calibri"/>
              </a:rPr>
              <a:t>métodos de autenticação</a:t>
            </a:r>
            <a:r>
              <a:rPr lang="pt-PT" sz="2400">
                <a:latin typeface="Calibri"/>
                <a:ea typeface="Calibri"/>
                <a:cs typeface="Calibri"/>
              </a:rPr>
              <a:t>.</a:t>
            </a:r>
          </a:p>
          <a:p>
            <a:pPr marL="342900" indent="-342900">
              <a:lnSpc>
                <a:spcPct val="110000"/>
              </a:lnSpc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>
                <a:latin typeface="Calibri"/>
                <a:ea typeface="Calibri"/>
                <a:cs typeface="Calibri"/>
              </a:rPr>
              <a:t>Falta de </a:t>
            </a:r>
            <a:r>
              <a:rPr lang="pt-PT" sz="2400" b="1">
                <a:latin typeface="Calibri"/>
                <a:ea typeface="Calibri"/>
                <a:cs typeface="Calibri"/>
              </a:rPr>
              <a:t>interoperabilidade</a:t>
            </a:r>
            <a:r>
              <a:rPr lang="pt-PT" sz="2400">
                <a:latin typeface="Calibri"/>
                <a:ea typeface="Calibri"/>
                <a:cs typeface="Calibri"/>
              </a:rPr>
              <a:t> entre os diferentes fornecedores.</a:t>
            </a: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</a:pPr>
            <a:r>
              <a:rPr lang="pt-PT" sz="2400" b="1" err="1">
                <a:latin typeface="Calibri"/>
                <a:ea typeface="Calibri"/>
                <a:cs typeface="Calibri"/>
              </a:rPr>
              <a:t>V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endor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Lock</a:t>
            </a:r>
            <a:r>
              <a:rPr lang="pt-PT" sz="2400" b="1" i="1">
                <a:latin typeface="Calibri"/>
                <a:ea typeface="Calibri"/>
                <a:cs typeface="Calibri"/>
              </a:rPr>
              <a:t>-in</a:t>
            </a:r>
            <a:r>
              <a:rPr lang="pt-PT" sz="2400">
                <a:latin typeface="Calibri"/>
                <a:ea typeface="Calibri"/>
                <a:cs typeface="Calibri"/>
              </a:rPr>
              <a:t> – Dificuldade de mudar de fornecedor.</a:t>
            </a: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>
              <a:latin typeface="Aptos"/>
            </a:endParaRPr>
          </a:p>
          <a:p>
            <a:pPr lvl="1" indent="0"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 sz="2400">
              <a:latin typeface="Aptos Display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11F5F78-0A51-3D9C-C458-BD0BBA7E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2</a:t>
            </a:fld>
            <a:endParaRPr lang="pt-PT"/>
          </a:p>
        </p:txBody>
      </p:sp>
      <p:sp>
        <p:nvSpPr>
          <p:cNvPr id="8" name="Título 11">
            <a:extLst>
              <a:ext uri="{FF2B5EF4-FFF2-40B4-BE49-F238E27FC236}">
                <a16:creationId xmlns:a16="http://schemas.microsoft.com/office/drawing/2014/main" id="{52270873-6B00-6BB2-A726-3E4E0D30F6D0}"/>
              </a:ext>
            </a:extLst>
          </p:cNvPr>
          <p:cNvSpPr txBox="1">
            <a:spLocks/>
          </p:cNvSpPr>
          <p:nvPr/>
        </p:nvSpPr>
        <p:spPr>
          <a:xfrm>
            <a:off x="10733" y="-1392"/>
            <a:ext cx="12183163" cy="1358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Contexto</a:t>
            </a: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335883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3A92A18-6FDC-5EAC-1B85-CCA1E53F6F26}"/>
              </a:ext>
            </a:extLst>
          </p:cNvPr>
          <p:cNvSpPr/>
          <p:nvPr/>
        </p:nvSpPr>
        <p:spPr>
          <a:xfrm>
            <a:off x="840827" y="1024759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E13DFD-AA17-A669-2DEF-C12F1EBAEE3E}"/>
              </a:ext>
            </a:extLst>
          </p:cNvPr>
          <p:cNvSpPr/>
          <p:nvPr/>
        </p:nvSpPr>
        <p:spPr>
          <a:xfrm>
            <a:off x="840827" y="4729655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37022E4-9313-043E-BC97-76522D9525FE}"/>
              </a:ext>
            </a:extLst>
          </p:cNvPr>
          <p:cNvSpPr/>
          <p:nvPr/>
        </p:nvSpPr>
        <p:spPr>
          <a:xfrm>
            <a:off x="840827" y="2877206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3BC2390-D842-8AB4-DD75-FA7BDDF60374}"/>
              </a:ext>
            </a:extLst>
          </p:cNvPr>
          <p:cNvSpPr/>
          <p:nvPr/>
        </p:nvSpPr>
        <p:spPr>
          <a:xfrm>
            <a:off x="9196551" y="1024758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EFC88E-E8B6-6264-9F48-03A0199F1BE0}"/>
              </a:ext>
            </a:extLst>
          </p:cNvPr>
          <p:cNvSpPr txBox="1"/>
          <p:nvPr/>
        </p:nvSpPr>
        <p:spPr>
          <a:xfrm>
            <a:off x="846232" y="1264612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Cliente de Modelos de API's de 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B22A340-C759-836C-418E-53BBF9D6D24E}"/>
              </a:ext>
            </a:extLst>
          </p:cNvPr>
          <p:cNvSpPr txBox="1"/>
          <p:nvPr/>
        </p:nvSpPr>
        <p:spPr>
          <a:xfrm>
            <a:off x="846232" y="3117060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Cliente de Modelos de API's de 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4887D91-E6BD-F461-261A-D41CC30F3753}"/>
              </a:ext>
            </a:extLst>
          </p:cNvPr>
          <p:cNvSpPr txBox="1"/>
          <p:nvPr/>
        </p:nvSpPr>
        <p:spPr>
          <a:xfrm>
            <a:off x="846231" y="4969508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Cliente de Modelos de API's de 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5DF1D75-FBA4-4B02-64B0-E37CF9D4233E}"/>
              </a:ext>
            </a:extLst>
          </p:cNvPr>
          <p:cNvSpPr txBox="1"/>
          <p:nvPr/>
        </p:nvSpPr>
        <p:spPr>
          <a:xfrm>
            <a:off x="9201955" y="1238335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 API's para acesso a  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18" name="Retângulo 8">
            <a:extLst>
              <a:ext uri="{FF2B5EF4-FFF2-40B4-BE49-F238E27FC236}">
                <a16:creationId xmlns:a16="http://schemas.microsoft.com/office/drawing/2014/main" id="{1B32148F-6860-DEBE-107E-92D0CB6DCC8B}"/>
              </a:ext>
            </a:extLst>
          </p:cNvPr>
          <p:cNvSpPr/>
          <p:nvPr/>
        </p:nvSpPr>
        <p:spPr>
          <a:xfrm>
            <a:off x="9203120" y="2864068"/>
            <a:ext cx="2404241" cy="112986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201659-AF47-CE5D-F134-92FFE20F1CAA}"/>
              </a:ext>
            </a:extLst>
          </p:cNvPr>
          <p:cNvSpPr txBox="1"/>
          <p:nvPr/>
        </p:nvSpPr>
        <p:spPr>
          <a:xfrm>
            <a:off x="9208524" y="3117059"/>
            <a:ext cx="239953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 API's para acesso a  Inferência</a:t>
            </a:r>
            <a:endParaRPr lang="pt-PT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1C5A272B-6998-DAFD-9FC0-F4E5690CA6F5}"/>
              </a:ext>
            </a:extLst>
          </p:cNvPr>
          <p:cNvCxnSpPr/>
          <p:nvPr/>
        </p:nvCxnSpPr>
        <p:spPr>
          <a:xfrm flipV="1">
            <a:off x="3246328" y="1539723"/>
            <a:ext cx="5960930" cy="13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unidirecional 22">
            <a:extLst>
              <a:ext uri="{FF2B5EF4-FFF2-40B4-BE49-F238E27FC236}">
                <a16:creationId xmlns:a16="http://schemas.microsoft.com/office/drawing/2014/main" id="{BE9BCDE2-FCA2-A926-D11D-0AB2F58A5D8E}"/>
              </a:ext>
            </a:extLst>
          </p:cNvPr>
          <p:cNvCxnSpPr/>
          <p:nvPr/>
        </p:nvCxnSpPr>
        <p:spPr>
          <a:xfrm flipV="1">
            <a:off x="3242457" y="1545058"/>
            <a:ext cx="5956431" cy="18928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CE67EE8F-4553-F7F0-9268-BFC2B2D42EFC}"/>
              </a:ext>
            </a:extLst>
          </p:cNvPr>
          <p:cNvCxnSpPr/>
          <p:nvPr/>
        </p:nvCxnSpPr>
        <p:spPr>
          <a:xfrm flipV="1">
            <a:off x="3255595" y="1535970"/>
            <a:ext cx="5931327" cy="3763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F09F443D-5DF3-3AF5-142C-4C2804812ED1}"/>
              </a:ext>
            </a:extLst>
          </p:cNvPr>
          <p:cNvSpPr/>
          <p:nvPr/>
        </p:nvSpPr>
        <p:spPr>
          <a:xfrm>
            <a:off x="2895479" y="1664575"/>
            <a:ext cx="1053662" cy="401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A5B8EE9-F3AD-D8A1-E762-2010BC271918}"/>
              </a:ext>
            </a:extLst>
          </p:cNvPr>
          <p:cNvSpPr txBox="1"/>
          <p:nvPr/>
        </p:nvSpPr>
        <p:spPr>
          <a:xfrm>
            <a:off x="2895748" y="1698163"/>
            <a:ext cx="2136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DDC85CC-6D27-317D-57BE-CBD8A70FD6B5}"/>
              </a:ext>
            </a:extLst>
          </p:cNvPr>
          <p:cNvSpPr/>
          <p:nvPr/>
        </p:nvSpPr>
        <p:spPr>
          <a:xfrm>
            <a:off x="2895479" y="3556437"/>
            <a:ext cx="1053662" cy="401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4571635-5B9F-4CE2-051F-431B2081938A}"/>
              </a:ext>
            </a:extLst>
          </p:cNvPr>
          <p:cNvSpPr txBox="1"/>
          <p:nvPr/>
        </p:nvSpPr>
        <p:spPr>
          <a:xfrm>
            <a:off x="2876041" y="3596594"/>
            <a:ext cx="2136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141436E-81DE-12B3-1505-E97B836B8032}"/>
              </a:ext>
            </a:extLst>
          </p:cNvPr>
          <p:cNvSpPr/>
          <p:nvPr/>
        </p:nvSpPr>
        <p:spPr>
          <a:xfrm>
            <a:off x="2875772" y="5408885"/>
            <a:ext cx="1053662" cy="401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5A31C3E-DC68-E346-C1AC-293C4C280332}"/>
              </a:ext>
            </a:extLst>
          </p:cNvPr>
          <p:cNvSpPr txBox="1"/>
          <p:nvPr/>
        </p:nvSpPr>
        <p:spPr>
          <a:xfrm>
            <a:off x="2856334" y="5449042"/>
            <a:ext cx="2136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</a:t>
            </a:r>
          </a:p>
        </p:txBody>
      </p:sp>
      <p:pic>
        <p:nvPicPr>
          <p:cNvPr id="34" name="Marcador de Posição de Conteúdo 33" descr="Claude AI Icon SVG Vector &amp; PNG Free Download | UXWing">
            <a:extLst>
              <a:ext uri="{FF2B5EF4-FFF2-40B4-BE49-F238E27FC236}">
                <a16:creationId xmlns:a16="http://schemas.microsoft.com/office/drawing/2014/main" id="{157CED0D-3910-2C18-7C57-69920CD619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008" y="531127"/>
            <a:ext cx="725215" cy="712079"/>
          </a:xfrm>
          <a:prstGeom prst="rect">
            <a:avLst/>
          </a:prstGeom>
        </p:spPr>
      </p:pic>
      <p:pic>
        <p:nvPicPr>
          <p:cNvPr id="35" name="Imagem 34" descr="Gemini Logo PNG (Free Download)">
            <a:extLst>
              <a:ext uri="{FF2B5EF4-FFF2-40B4-BE49-F238E27FC236}">
                <a16:creationId xmlns:a16="http://schemas.microsoft.com/office/drawing/2014/main" id="{B09B38BA-F404-9E54-0416-A393B8301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782" y="42594"/>
            <a:ext cx="1754300" cy="1460386"/>
          </a:xfrm>
          <a:prstGeom prst="rect">
            <a:avLst/>
          </a:prstGeom>
        </p:spPr>
      </p:pic>
      <p:pic>
        <p:nvPicPr>
          <p:cNvPr id="36" name="Imagem 35" descr="Ficheiro:OpenAI Logo.svg – Wikipédia, a enciclopédia livre">
            <a:extLst>
              <a:ext uri="{FF2B5EF4-FFF2-40B4-BE49-F238E27FC236}">
                <a16:creationId xmlns:a16="http://schemas.microsoft.com/office/drawing/2014/main" id="{2B046627-6092-9367-19CB-6F7C12ABD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804" y="2493317"/>
            <a:ext cx="1223071" cy="320665"/>
          </a:xfrm>
          <a:prstGeom prst="rect">
            <a:avLst/>
          </a:prstGeom>
        </p:spPr>
      </p:pic>
      <p:cxnSp>
        <p:nvCxnSpPr>
          <p:cNvPr id="2" name="Conexão reta unidirecional 1">
            <a:extLst>
              <a:ext uri="{FF2B5EF4-FFF2-40B4-BE49-F238E27FC236}">
                <a16:creationId xmlns:a16="http://schemas.microsoft.com/office/drawing/2014/main" id="{8783AB21-A53D-B039-35E7-5297CD113432}"/>
              </a:ext>
            </a:extLst>
          </p:cNvPr>
          <p:cNvCxnSpPr>
            <a:cxnSpLocks/>
          </p:cNvCxnSpPr>
          <p:nvPr/>
        </p:nvCxnSpPr>
        <p:spPr>
          <a:xfrm>
            <a:off x="3235890" y="1552614"/>
            <a:ext cx="5956429" cy="1871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07BF728D-7B1B-9BC7-6C86-01DA2A36CD5E}"/>
              </a:ext>
            </a:extLst>
          </p:cNvPr>
          <p:cNvSpPr/>
          <p:nvPr/>
        </p:nvSpPr>
        <p:spPr>
          <a:xfrm>
            <a:off x="4912306" y="1005924"/>
            <a:ext cx="2602938" cy="29535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8657AA-08E5-28AF-2BE5-577562830CCB}"/>
              </a:ext>
            </a:extLst>
          </p:cNvPr>
          <p:cNvSpPr txBox="1"/>
          <p:nvPr/>
        </p:nvSpPr>
        <p:spPr>
          <a:xfrm>
            <a:off x="5519810" y="1909767"/>
            <a:ext cx="222530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/>
              <a:t>OmniAI Gateway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5EDE9A0C-EF17-DE78-701E-0BCB5B94A528}"/>
              </a:ext>
            </a:extLst>
          </p:cNvPr>
          <p:cNvCxnSpPr/>
          <p:nvPr/>
        </p:nvCxnSpPr>
        <p:spPr>
          <a:xfrm>
            <a:off x="3242387" y="1539550"/>
            <a:ext cx="1622357" cy="891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6922033E-90FC-7A71-27DD-BEA99AE9F1D2}"/>
              </a:ext>
            </a:extLst>
          </p:cNvPr>
          <p:cNvCxnSpPr/>
          <p:nvPr/>
        </p:nvCxnSpPr>
        <p:spPr>
          <a:xfrm flipV="1">
            <a:off x="7523496" y="1538463"/>
            <a:ext cx="1644653" cy="9840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3433FD-7E55-5658-90F4-6425A8403438}"/>
              </a:ext>
            </a:extLst>
          </p:cNvPr>
          <p:cNvSpPr/>
          <p:nvPr/>
        </p:nvSpPr>
        <p:spPr>
          <a:xfrm>
            <a:off x="5979840" y="3784715"/>
            <a:ext cx="1284322" cy="4394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A8B631F-0C1B-BA41-C9CF-E57D85B15BF9}"/>
              </a:ext>
            </a:extLst>
          </p:cNvPr>
          <p:cNvSpPr txBox="1"/>
          <p:nvPr/>
        </p:nvSpPr>
        <p:spPr>
          <a:xfrm>
            <a:off x="6025728" y="3813634"/>
            <a:ext cx="25863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solidFill>
                  <a:srgbClr val="000000"/>
                </a:solidFill>
              </a:rPr>
              <a:t> API KEYS</a:t>
            </a:r>
          </a:p>
        </p:txBody>
      </p: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8EDB2459-5843-AF38-71E8-F409B010BB81}"/>
              </a:ext>
            </a:extLst>
          </p:cNvPr>
          <p:cNvCxnSpPr/>
          <p:nvPr/>
        </p:nvCxnSpPr>
        <p:spPr>
          <a:xfrm flipV="1">
            <a:off x="3235158" y="2478604"/>
            <a:ext cx="1638090" cy="962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F3366ED8-CFD1-DEB0-D598-5B8987416CAA}"/>
              </a:ext>
            </a:extLst>
          </p:cNvPr>
          <p:cNvCxnSpPr/>
          <p:nvPr/>
        </p:nvCxnSpPr>
        <p:spPr>
          <a:xfrm flipV="1">
            <a:off x="3244070" y="2545724"/>
            <a:ext cx="1635633" cy="2755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2715E08E-12BD-CCF7-5CE5-10394A1D40A3}"/>
              </a:ext>
            </a:extLst>
          </p:cNvPr>
          <p:cNvCxnSpPr/>
          <p:nvPr/>
        </p:nvCxnSpPr>
        <p:spPr>
          <a:xfrm>
            <a:off x="7517347" y="2517614"/>
            <a:ext cx="1676615" cy="898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BA6DE86-7FBC-7C9D-733E-195752BE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902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/>
      <p:bldP spid="14" grpId="0"/>
      <p:bldP spid="16" grpId="0"/>
      <p:bldP spid="17" grpId="0"/>
      <p:bldP spid="18" grpId="0" animBg="1"/>
      <p:bldP spid="19" grpId="0"/>
      <p:bldP spid="25" grpId="0" animBg="1"/>
      <p:bldP spid="25" grpId="1" animBg="1"/>
      <p:bldP spid="26" grpId="0"/>
      <p:bldP spid="26" grpId="1"/>
      <p:bldP spid="28" grpId="0" animBg="1"/>
      <p:bldP spid="28" grpId="1" animBg="1"/>
      <p:bldP spid="29" grpId="0"/>
      <p:bldP spid="29" grpId="1"/>
      <p:bldP spid="30" grpId="0" animBg="1"/>
      <p:bldP spid="30" grpId="1" animBg="1"/>
      <p:bldP spid="33" grpId="0"/>
      <p:bldP spid="33" grpId="1"/>
      <p:bldP spid="3" grpId="0" animBg="1"/>
      <p:bldP spid="4" grpId="0"/>
      <p:bldP spid="13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23AD5C1-32B6-2D92-5EB4-40A9B4460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55" y="907599"/>
            <a:ext cx="11069781" cy="494330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Aptos Display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>
              <a:solidFill>
                <a:schemeClr val="bg1"/>
              </a:solidFill>
              <a:latin typeface="Aptos Display"/>
            </a:endParaRPr>
          </a:p>
          <a:p>
            <a:pPr marL="274320" lvl="1">
              <a:lnSpc>
                <a:spcPct val="110000"/>
              </a:lnSpc>
              <a:buNone/>
            </a:pPr>
            <a:endParaRPr lang="pt-PT" sz="1800">
              <a:solidFill>
                <a:schemeClr val="bg1"/>
              </a:solidFill>
              <a:latin typeface="Aptos Display"/>
            </a:endParaRPr>
          </a:p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Sitka Text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pt-PT" sz="200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6C1D04-3EE1-49A7-1528-668BAE01E9E1}"/>
              </a:ext>
            </a:extLst>
          </p:cNvPr>
          <p:cNvSpPr txBox="1"/>
          <p:nvPr/>
        </p:nvSpPr>
        <p:spPr>
          <a:xfrm>
            <a:off x="232154" y="844484"/>
            <a:ext cx="1124108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>
                <a:latin typeface="Calibri"/>
                <a:ea typeface="Calibri"/>
                <a:cs typeface="Calibri"/>
              </a:rPr>
              <a:t>Vamos demonstrar na prática:</a:t>
            </a:r>
          </a:p>
          <a:p>
            <a:pPr marL="342900" indent="-342900">
              <a:buFont typeface="Arial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Integração com </a:t>
            </a:r>
            <a:r>
              <a:rPr lang="pt-PT" sz="2400" b="1" i="1">
                <a:latin typeface="Calibri"/>
                <a:ea typeface="Calibri"/>
                <a:cs typeface="Calibri"/>
              </a:rPr>
              <a:t>Claude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Code</a:t>
            </a:r>
            <a:endParaRPr lang="pt-PT" sz="2400" b="1" i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Realização de pedidos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restClient</a:t>
            </a:r>
            <a:endParaRPr lang="pt-PT" sz="2400" b="1" i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PT" sz="2400" b="1" dirty="0">
                <a:latin typeface="Calibri"/>
                <a:ea typeface="Calibri"/>
                <a:cs typeface="Calibri"/>
              </a:rPr>
              <a:t>Observabilidade</a:t>
            </a:r>
            <a:r>
              <a:rPr lang="pt-PT" sz="2400" dirty="0">
                <a:latin typeface="Calibri"/>
                <a:ea typeface="Calibri"/>
                <a:cs typeface="Calibri"/>
              </a:rPr>
              <a:t> de </a:t>
            </a:r>
            <a:r>
              <a:rPr lang="pt-PT" sz="2400" b="1" dirty="0">
                <a:latin typeface="Calibri"/>
                <a:ea typeface="Calibri"/>
                <a:cs typeface="Calibri"/>
              </a:rPr>
              <a:t>métricas</a:t>
            </a:r>
            <a:r>
              <a:rPr lang="pt-PT" sz="2400" dirty="0">
                <a:latin typeface="Calibri"/>
                <a:ea typeface="Calibri"/>
                <a:cs typeface="Calibri"/>
              </a:rPr>
              <a:t> da 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Gateway</a:t>
            </a:r>
            <a:r>
              <a:rPr lang="pt-PT" sz="2400" dirty="0">
                <a:latin typeface="Calibri"/>
                <a:ea typeface="Calibri"/>
                <a:cs typeface="Calibri"/>
              </a:rPr>
              <a:t> </a:t>
            </a:r>
            <a:r>
              <a:rPr lang="en-GB" sz="2400" dirty="0" err="1">
                <a:latin typeface="Calibri"/>
                <a:ea typeface="Calibri"/>
                <a:cs typeface="Calibri"/>
              </a:rPr>
              <a:t>em</a:t>
            </a:r>
            <a:r>
              <a:rPr lang="pt-PT" sz="2400" dirty="0">
                <a:latin typeface="Calibri"/>
                <a:ea typeface="Calibri"/>
                <a:cs typeface="Calibri"/>
              </a:rPr>
              <a:t> tempo real com </a:t>
            </a:r>
            <a:r>
              <a:rPr lang="pt-PT" sz="2400" b="1" i="1" dirty="0" err="1">
                <a:latin typeface="Calibri"/>
                <a:ea typeface="Calibri"/>
                <a:cs typeface="Calibri"/>
              </a:rPr>
              <a:t>Prometheus</a:t>
            </a:r>
            <a:r>
              <a:rPr lang="pt-PT" sz="2400" dirty="0">
                <a:latin typeface="Calibri"/>
                <a:ea typeface="Calibri"/>
                <a:cs typeface="Calibri"/>
              </a:rPr>
              <a:t> + </a:t>
            </a:r>
            <a:r>
              <a:rPr lang="pt-PT" sz="2400" b="1" i="1" dirty="0" err="1">
                <a:latin typeface="Calibri"/>
                <a:ea typeface="Calibri"/>
                <a:cs typeface="Calibri"/>
              </a:rPr>
              <a:t>Grafana</a:t>
            </a:r>
            <a:endParaRPr lang="pt-PT" sz="2400" b="1" i="1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8F72D786-D2C2-70A3-6DEB-B41808E26776}"/>
              </a:ext>
            </a:extLst>
          </p:cNvPr>
          <p:cNvSpPr/>
          <p:nvPr/>
        </p:nvSpPr>
        <p:spPr>
          <a:xfrm>
            <a:off x="7286350" y="3946023"/>
            <a:ext cx="1701363" cy="32363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8">
            <a:extLst>
              <a:ext uri="{FF2B5EF4-FFF2-40B4-BE49-F238E27FC236}">
                <a16:creationId xmlns:a16="http://schemas.microsoft.com/office/drawing/2014/main" id="{D854D7B4-2B5B-4134-4A4F-900927519CD8}"/>
              </a:ext>
            </a:extLst>
          </p:cNvPr>
          <p:cNvSpPr/>
          <p:nvPr/>
        </p:nvSpPr>
        <p:spPr>
          <a:xfrm>
            <a:off x="8999711" y="3545564"/>
            <a:ext cx="2313023" cy="1134037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F2ECF15-3656-2B4F-3CCC-AD32B25F5946}"/>
              </a:ext>
            </a:extLst>
          </p:cNvPr>
          <p:cNvSpPr txBox="1"/>
          <p:nvPr/>
        </p:nvSpPr>
        <p:spPr>
          <a:xfrm>
            <a:off x="9118008" y="3708213"/>
            <a:ext cx="231302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 </a:t>
            </a:r>
            <a:r>
              <a:rPr lang="pt-PT" sz="2000" b="1" err="1"/>
              <a:t>API's</a:t>
            </a:r>
            <a:r>
              <a:rPr lang="pt-PT" sz="2000" b="1"/>
              <a:t> para acesso a  Inferência</a:t>
            </a:r>
            <a:endParaRPr lang="pt-PT" b="1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48164C3-25A5-87CA-8FD0-557ED02A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7029" y="6191561"/>
            <a:ext cx="2743200" cy="365125"/>
          </a:xfrm>
        </p:spPr>
        <p:txBody>
          <a:bodyPr/>
          <a:lstStyle/>
          <a:p>
            <a:fld id="{15A16595-07AD-4646-803E-1CCE41789BEC}" type="slidenum">
              <a:rPr lang="pt-PT" smtClean="0"/>
              <a:t>4</a:t>
            </a:fld>
            <a:endParaRPr lang="pt-PT"/>
          </a:p>
        </p:txBody>
      </p:sp>
      <p:sp>
        <p:nvSpPr>
          <p:cNvPr id="17" name="Título 11">
            <a:extLst>
              <a:ext uri="{FF2B5EF4-FFF2-40B4-BE49-F238E27FC236}">
                <a16:creationId xmlns:a16="http://schemas.microsoft.com/office/drawing/2014/main" id="{CD854571-9D88-C71A-BFD5-08B225B82034}"/>
              </a:ext>
            </a:extLst>
          </p:cNvPr>
          <p:cNvSpPr txBox="1">
            <a:spLocks/>
          </p:cNvSpPr>
          <p:nvPr/>
        </p:nvSpPr>
        <p:spPr>
          <a:xfrm>
            <a:off x="-2241" y="-278031"/>
            <a:ext cx="12187269" cy="1304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err="1"/>
              <a:t>Proof</a:t>
            </a:r>
            <a:r>
              <a:rPr lang="pt-PT" b="1" dirty="0"/>
              <a:t> </a:t>
            </a:r>
            <a:r>
              <a:rPr lang="pt-PT" b="1" err="1"/>
              <a:t>Of</a:t>
            </a:r>
            <a:r>
              <a:rPr lang="pt-PT" b="1" dirty="0"/>
              <a:t> </a:t>
            </a:r>
            <a:r>
              <a:rPr lang="pt-PT" b="1" err="1"/>
              <a:t>Concept</a:t>
            </a:r>
            <a:endParaRPr lang="pt-PT" b="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36CCAAD-71D7-5D28-9D54-4AE9EFF04C43}"/>
              </a:ext>
            </a:extLst>
          </p:cNvPr>
          <p:cNvSpPr/>
          <p:nvPr/>
        </p:nvSpPr>
        <p:spPr>
          <a:xfrm>
            <a:off x="3415062" y="2846369"/>
            <a:ext cx="4483383" cy="30737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B7D8241-020F-E315-EFF1-1F0434B6626D}"/>
              </a:ext>
            </a:extLst>
          </p:cNvPr>
          <p:cNvSpPr/>
          <p:nvPr/>
        </p:nvSpPr>
        <p:spPr>
          <a:xfrm>
            <a:off x="3997525" y="3377983"/>
            <a:ext cx="3174124" cy="124985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b="1" i="1" err="1">
                <a:solidFill>
                  <a:schemeClr val="tx1"/>
                </a:solidFill>
                <a:highlight>
                  <a:srgbClr val="C0C0C0"/>
                </a:highlight>
              </a:rPr>
              <a:t>OmniAi</a:t>
            </a:r>
            <a:r>
              <a:rPr lang="pt-PT" b="1" i="1">
                <a:solidFill>
                  <a:schemeClr val="tx1"/>
                </a:solidFill>
                <a:highlight>
                  <a:srgbClr val="C0C0C0"/>
                </a:highlight>
              </a:rPr>
              <a:t>-SDK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BCFCC0C-61EC-DE1C-703F-916AF4B13EAB}"/>
              </a:ext>
            </a:extLst>
          </p:cNvPr>
          <p:cNvSpPr/>
          <p:nvPr/>
        </p:nvSpPr>
        <p:spPr>
          <a:xfrm>
            <a:off x="4575137" y="2661488"/>
            <a:ext cx="2018899" cy="3224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b="1" i="1" err="1">
                <a:solidFill>
                  <a:schemeClr val="tx1"/>
                </a:solidFill>
              </a:rPr>
              <a:t>OmniAI</a:t>
            </a:r>
            <a:r>
              <a:rPr lang="pt-PT" b="1" i="1">
                <a:solidFill>
                  <a:schemeClr val="tx1"/>
                </a:solidFill>
              </a:rPr>
              <a:t> Gateway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18C11CA3-4993-A9D8-50FC-A1C0F2AA1010}"/>
              </a:ext>
            </a:extLst>
          </p:cNvPr>
          <p:cNvSpPr/>
          <p:nvPr/>
        </p:nvSpPr>
        <p:spPr>
          <a:xfrm>
            <a:off x="2132997" y="3442687"/>
            <a:ext cx="1257403" cy="3026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7" name="Imagem 6" descr="OpenTelemetry Protocol | OpenTelemetry">
            <a:extLst>
              <a:ext uri="{FF2B5EF4-FFF2-40B4-BE49-F238E27FC236}">
                <a16:creationId xmlns:a16="http://schemas.microsoft.com/office/drawing/2014/main" id="{76594069-D767-EAD0-BD6E-81965C72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538" y="4958551"/>
            <a:ext cx="1438023" cy="743534"/>
          </a:xfrm>
          <a:prstGeom prst="rect">
            <a:avLst/>
          </a:prstGeom>
        </p:spPr>
      </p:pic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A7366A47-6F7B-C41C-B9AA-65D624AAA0A5}"/>
              </a:ext>
            </a:extLst>
          </p:cNvPr>
          <p:cNvCxnSpPr>
            <a:cxnSpLocks/>
          </p:cNvCxnSpPr>
          <p:nvPr/>
        </p:nvCxnSpPr>
        <p:spPr>
          <a:xfrm>
            <a:off x="4492917" y="4627835"/>
            <a:ext cx="0" cy="33071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xão reta unidirecional 31">
            <a:extLst>
              <a:ext uri="{FF2B5EF4-FFF2-40B4-BE49-F238E27FC236}">
                <a16:creationId xmlns:a16="http://schemas.microsoft.com/office/drawing/2014/main" id="{F0D8041A-43E9-BE5A-A848-563758BD3C0D}"/>
              </a:ext>
            </a:extLst>
          </p:cNvPr>
          <p:cNvCxnSpPr>
            <a:cxnSpLocks/>
          </p:cNvCxnSpPr>
          <p:nvPr/>
        </p:nvCxnSpPr>
        <p:spPr>
          <a:xfrm>
            <a:off x="5062888" y="5202235"/>
            <a:ext cx="3812356" cy="0"/>
          </a:xfrm>
          <a:prstGeom prst="straightConnector1">
            <a:avLst/>
          </a:prstGeom>
          <a:ln w="920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Imagem 33" descr="Prometheus Logo - LogoDix">
            <a:extLst>
              <a:ext uri="{FF2B5EF4-FFF2-40B4-BE49-F238E27FC236}">
                <a16:creationId xmlns:a16="http://schemas.microsoft.com/office/drawing/2014/main" id="{9A77F397-C2D5-FC37-86B5-9A1567034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601" y="4958551"/>
            <a:ext cx="2704944" cy="939968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8CB2B6C4-ECF2-2482-8B6C-41D20B882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69" y="5030045"/>
            <a:ext cx="1356711" cy="13440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49" name="Conexão: Ângulo Reto 48">
            <a:extLst>
              <a:ext uri="{FF2B5EF4-FFF2-40B4-BE49-F238E27FC236}">
                <a16:creationId xmlns:a16="http://schemas.microsoft.com/office/drawing/2014/main" id="{827CEAB3-0F3F-5095-DBBA-3AD05A6BAA57}"/>
              </a:ext>
            </a:extLst>
          </p:cNvPr>
          <p:cNvCxnSpPr>
            <a:cxnSpLocks/>
          </p:cNvCxnSpPr>
          <p:nvPr/>
        </p:nvCxnSpPr>
        <p:spPr>
          <a:xfrm flipV="1">
            <a:off x="2131509" y="5634461"/>
            <a:ext cx="6743735" cy="525253"/>
          </a:xfrm>
          <a:prstGeom prst="bentConnector3">
            <a:avLst>
              <a:gd name="adj1" fmla="val 87680"/>
            </a:avLst>
          </a:prstGeom>
          <a:ln w="920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Marcador de Posição de Conteúdo 33" descr="Claude AI Icon SVG Vector &amp; PNG Free Download | UXWing">
            <a:extLst>
              <a:ext uri="{FF2B5EF4-FFF2-40B4-BE49-F238E27FC236}">
                <a16:creationId xmlns:a16="http://schemas.microsoft.com/office/drawing/2014/main" id="{4A81AB52-AF65-A5CC-49BB-B07AD9C42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69" y="2983909"/>
            <a:ext cx="1309852" cy="1263873"/>
          </a:xfrm>
          <a:prstGeom prst="rect">
            <a:avLst/>
          </a:prstGeom>
        </p:spPr>
      </p:pic>
      <p:pic>
        <p:nvPicPr>
          <p:cNvPr id="74" name="Imagem 73" descr="Gemini Logo PNG (Free Download)">
            <a:extLst>
              <a:ext uri="{FF2B5EF4-FFF2-40B4-BE49-F238E27FC236}">
                <a16:creationId xmlns:a16="http://schemas.microsoft.com/office/drawing/2014/main" id="{65F7E0EF-D70C-7DAF-341A-0DD794ADF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6772" y="2265413"/>
            <a:ext cx="2018899" cy="201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ção de Conteúdo 10">
            <a:extLst>
              <a:ext uri="{FF2B5EF4-FFF2-40B4-BE49-F238E27FC236}">
                <a16:creationId xmlns:a16="http://schemas.microsoft.com/office/drawing/2014/main" id="{9046CF1E-9EAE-41D8-A729-1ADA7E8FD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108" y="1134928"/>
            <a:ext cx="10877782" cy="5321688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AEF11BD0-954B-4658-D7EE-338BA9D57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5</a:t>
            </a:fld>
            <a:endParaRPr lang="pt-PT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424F9C0-D040-DC87-EF8D-AA07A73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6" y="-187739"/>
            <a:ext cx="12191928" cy="1325563"/>
          </a:xfrm>
        </p:spPr>
        <p:txBody>
          <a:bodyPr/>
          <a:lstStyle/>
          <a:p>
            <a:pPr algn="ctr"/>
            <a:r>
              <a:rPr lang="pt-PT" b="1"/>
              <a:t>Arquitetura</a:t>
            </a:r>
          </a:p>
        </p:txBody>
      </p:sp>
    </p:spTree>
    <p:extLst>
      <p:ext uri="{BB962C8B-B14F-4D97-AF65-F5344CB8AC3E}">
        <p14:creationId xmlns:p14="http://schemas.microsoft.com/office/powerpoint/2010/main" val="327490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45EF511-B68C-D8E0-6413-421BB114C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PT" sz="1100">
              <a:ea typeface="+mn-lt"/>
              <a:cs typeface="+mn-lt"/>
            </a:endParaRPr>
          </a:p>
          <a:p>
            <a:endParaRPr lang="pt-PT" sz="1100">
              <a:ea typeface="+mn-lt"/>
              <a:cs typeface="+mn-lt"/>
            </a:endParaRPr>
          </a:p>
          <a:p>
            <a:endParaRPr lang="pt-PT" sz="1100">
              <a:ea typeface="+mn-lt"/>
              <a:cs typeface="+mn-lt"/>
            </a:endParaRPr>
          </a:p>
          <a:p>
            <a:endParaRPr lang="pt-PT" sz="1100">
              <a:ea typeface="+mn-lt"/>
              <a:cs typeface="+mn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3C55B8-2395-29CD-A642-B576BCD31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727" y="737713"/>
            <a:ext cx="6962545" cy="5983762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5BA7A9A-3F69-3557-0062-097D4894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6</a:t>
            </a:fld>
            <a:endParaRPr lang="pt-PT"/>
          </a:p>
        </p:txBody>
      </p:sp>
      <p:sp>
        <p:nvSpPr>
          <p:cNvPr id="9" name="Título 11">
            <a:extLst>
              <a:ext uri="{FF2B5EF4-FFF2-40B4-BE49-F238E27FC236}">
                <a16:creationId xmlns:a16="http://schemas.microsoft.com/office/drawing/2014/main" id="{AD846BA3-AB08-B610-D2FC-9E744745622B}"/>
              </a:ext>
            </a:extLst>
          </p:cNvPr>
          <p:cNvSpPr txBox="1">
            <a:spLocks/>
          </p:cNvSpPr>
          <p:nvPr/>
        </p:nvSpPr>
        <p:spPr>
          <a:xfrm>
            <a:off x="1688" y="0"/>
            <a:ext cx="12183164" cy="763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156169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6D481-C616-508D-1B04-EC951718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0ECC4F3-A6D3-8BAB-E32C-4C39942FC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E4985E-48F3-72A1-BF7B-5A6D1C6BD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1" y="818475"/>
            <a:ext cx="11397111" cy="5709639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80E11512-46C6-267A-A537-E2F722D7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7</a:t>
            </a:fld>
            <a:endParaRPr lang="pt-PT"/>
          </a:p>
        </p:txBody>
      </p:sp>
      <p:sp>
        <p:nvSpPr>
          <p:cNvPr id="8" name="Título 11">
            <a:extLst>
              <a:ext uri="{FF2B5EF4-FFF2-40B4-BE49-F238E27FC236}">
                <a16:creationId xmlns:a16="http://schemas.microsoft.com/office/drawing/2014/main" id="{7F5D7A49-3F6D-8498-D0AF-E61DBF6F8D86}"/>
              </a:ext>
            </a:extLst>
          </p:cNvPr>
          <p:cNvSpPr txBox="1">
            <a:spLocks/>
          </p:cNvSpPr>
          <p:nvPr/>
        </p:nvSpPr>
        <p:spPr>
          <a:xfrm>
            <a:off x="-2628" y="-9198"/>
            <a:ext cx="12183164" cy="813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Domain</a:t>
            </a:r>
          </a:p>
        </p:txBody>
      </p:sp>
    </p:spTree>
    <p:extLst>
      <p:ext uri="{BB962C8B-B14F-4D97-AF65-F5344CB8AC3E}">
        <p14:creationId xmlns:p14="http://schemas.microsoft.com/office/powerpoint/2010/main" val="210084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9CEF67-FAC9-2635-EE4B-57E3A9FBD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044" y="942357"/>
            <a:ext cx="9483102" cy="5616795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5FD7412A-A262-804B-0747-C8BDA9BE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8</a:t>
            </a:fld>
            <a:endParaRPr lang="pt-PT"/>
          </a:p>
        </p:txBody>
      </p:sp>
      <p:sp>
        <p:nvSpPr>
          <p:cNvPr id="6" name="Título 11">
            <a:extLst>
              <a:ext uri="{FF2B5EF4-FFF2-40B4-BE49-F238E27FC236}">
                <a16:creationId xmlns:a16="http://schemas.microsoft.com/office/drawing/2014/main" id="{C556D681-F0DA-208F-7A3C-8C4641AC7FB5}"/>
              </a:ext>
            </a:extLst>
          </p:cNvPr>
          <p:cNvSpPr txBox="1">
            <a:spLocks/>
          </p:cNvSpPr>
          <p:nvPr/>
        </p:nvSpPr>
        <p:spPr>
          <a:xfrm>
            <a:off x="-4055" y="3833"/>
            <a:ext cx="12199731" cy="813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/>
              <a:t>Contracts Mapping</a:t>
            </a:r>
          </a:p>
        </p:txBody>
      </p:sp>
    </p:spTree>
    <p:extLst>
      <p:ext uri="{BB962C8B-B14F-4D97-AF65-F5344CB8AC3E}">
        <p14:creationId xmlns:p14="http://schemas.microsoft.com/office/powerpoint/2010/main" val="62928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28D12-316B-50B6-27D4-B3C58E2F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F340C9F-4930-9314-C05D-E29F4BCB2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chemeClr val="bg1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826DD7-248B-FFF1-D9C1-C03D63502F54}"/>
              </a:ext>
            </a:extLst>
          </p:cNvPr>
          <p:cNvSpPr txBox="1"/>
          <p:nvPr/>
        </p:nvSpPr>
        <p:spPr>
          <a:xfrm>
            <a:off x="196949" y="724039"/>
            <a:ext cx="11798101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Implementação baseada em </a:t>
            </a:r>
            <a:r>
              <a:rPr lang="pt-PT" sz="2400" b="1" err="1">
                <a:latin typeface="Calibri"/>
                <a:ea typeface="Calibri"/>
                <a:cs typeface="Calibri"/>
              </a:rPr>
              <a:t>AuthContext</a:t>
            </a:r>
            <a:r>
              <a:rPr lang="pt-PT" sz="2400" b="1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err="1">
                <a:latin typeface="Calibri"/>
                <a:ea typeface="Calibri"/>
                <a:cs typeface="Calibri"/>
              </a:rPr>
              <a:t>Interceptor</a:t>
            </a:r>
            <a:r>
              <a:rPr lang="pt-PT" sz="2400" b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que atua no inicio da pipeline.</a:t>
            </a:r>
          </a:p>
          <a:p>
            <a:pPr marL="285750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Descoberta e configuração </a:t>
            </a:r>
            <a:r>
              <a:rPr lang="pt-PT" sz="2400" b="1" err="1">
                <a:latin typeface="Calibri"/>
                <a:ea typeface="Calibri"/>
                <a:cs typeface="Calibri"/>
              </a:rPr>
              <a:t>dinamica</a:t>
            </a:r>
            <a:r>
              <a:rPr lang="pt-PT" sz="2400" b="1">
                <a:latin typeface="Calibri"/>
                <a:ea typeface="Calibri"/>
                <a:cs typeface="Calibri"/>
              </a:rPr>
              <a:t> (</a:t>
            </a:r>
            <a:r>
              <a:rPr lang="pt-PT" sz="2400" b="1" err="1">
                <a:latin typeface="Calibri"/>
                <a:ea typeface="Calibri"/>
                <a:cs typeface="Calibri"/>
              </a:rPr>
              <a:t>Discovery</a:t>
            </a:r>
            <a:r>
              <a:rPr lang="pt-PT" sz="2400" b="1">
                <a:latin typeface="Calibri"/>
                <a:ea typeface="Calibri"/>
                <a:cs typeface="Calibri"/>
              </a:rPr>
              <a:t>)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Leitura automática dos </a:t>
            </a:r>
            <a:r>
              <a:rPr lang="pt-PT" sz="2400" b="1" err="1">
                <a:latin typeface="Calibri"/>
                <a:ea typeface="Calibri"/>
                <a:cs typeface="Calibri"/>
              </a:rPr>
              <a:t>metadados</a:t>
            </a:r>
            <a:r>
              <a:rPr lang="pt-PT" sz="2400">
                <a:latin typeface="Calibri"/>
                <a:ea typeface="Calibri"/>
                <a:cs typeface="Calibri"/>
              </a:rPr>
              <a:t> do servidor ( </a:t>
            </a:r>
            <a:r>
              <a:rPr lang="pt-PT" sz="2400" b="1" i="1">
                <a:latin typeface="Calibri"/>
                <a:ea typeface="Calibri"/>
                <a:cs typeface="Calibri"/>
              </a:rPr>
              <a:t>/.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well-known</a:t>
            </a:r>
            <a:r>
              <a:rPr lang="pt-PT" sz="2400">
                <a:latin typeface="Calibri"/>
                <a:ea typeface="Calibri"/>
                <a:cs typeface="Calibri"/>
              </a:rPr>
              <a:t>) 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8414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Busca e cache dinâmico de </a:t>
            </a:r>
            <a:r>
              <a:rPr lang="pt-PT" sz="2400" b="1">
                <a:latin typeface="Calibri"/>
                <a:ea typeface="Calibri"/>
                <a:cs typeface="Calibri"/>
              </a:rPr>
              <a:t>Chaves Publicas </a:t>
            </a:r>
            <a:r>
              <a:rPr lang="pt-PT" sz="2400">
                <a:latin typeface="Calibri"/>
                <a:ea typeface="Calibri"/>
                <a:cs typeface="Calibri"/>
              </a:rPr>
              <a:t>(</a:t>
            </a:r>
            <a:r>
              <a:rPr lang="pt-PT" sz="2400" b="1" i="1">
                <a:latin typeface="Calibri"/>
                <a:ea typeface="Calibri"/>
                <a:cs typeface="Calibri"/>
              </a:rPr>
              <a:t>JWKS</a:t>
            </a:r>
            <a:r>
              <a:rPr lang="pt-PT" sz="2400">
                <a:latin typeface="Calibri"/>
                <a:ea typeface="Calibri"/>
                <a:cs typeface="Calibri"/>
              </a:rPr>
              <a:t>) 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7517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Dualidade e validação 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tokens</a:t>
            </a:r>
            <a:endParaRPr lang="pt-PT" sz="2400" b="1" i="1"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pt-PT" sz="2400" b="1" i="1" err="1">
                <a:latin typeface="Calibri"/>
                <a:ea typeface="Calibri"/>
                <a:cs typeface="Calibri"/>
              </a:rPr>
              <a:t>Tokens</a:t>
            </a:r>
            <a:r>
              <a:rPr lang="pt-PT" sz="2400" b="1">
                <a:latin typeface="Calibri"/>
                <a:ea typeface="Calibri"/>
                <a:cs typeface="Calibri"/>
              </a:rPr>
              <a:t> JWT: </a:t>
            </a:r>
            <a:r>
              <a:rPr lang="pt-PT" sz="2400">
                <a:latin typeface="Calibri"/>
                <a:ea typeface="Calibri"/>
                <a:cs typeface="Calibri"/>
              </a:rPr>
              <a:t>Validação local usando a </a:t>
            </a:r>
            <a:r>
              <a:rPr lang="pt-PT" sz="2400" i="1" err="1">
                <a:latin typeface="Calibri"/>
                <a:ea typeface="Calibri"/>
                <a:cs typeface="Calibri"/>
              </a:rPr>
              <a:t>framework</a:t>
            </a:r>
            <a:r>
              <a:rPr lang="pt-PT" sz="2400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i="1">
                <a:latin typeface="Calibri"/>
                <a:ea typeface="Calibri"/>
                <a:cs typeface="Calibri"/>
              </a:rPr>
              <a:t>JOSE</a:t>
            </a:r>
            <a:r>
              <a:rPr lang="pt-PT" sz="2400">
                <a:latin typeface="Calibri"/>
                <a:ea typeface="Calibri"/>
                <a:cs typeface="Calibri"/>
              </a:rPr>
              <a:t>.</a:t>
            </a:r>
            <a:br>
              <a:rPr lang="pt-PT" sz="2400" dirty="0">
                <a:latin typeface="Calibri"/>
                <a:ea typeface="Calibri"/>
                <a:cs typeface="Calibri"/>
              </a:rPr>
            </a:br>
            <a:r>
              <a:rPr lang="pt-PT" sz="2400">
                <a:latin typeface="Calibri"/>
                <a:ea typeface="Calibri"/>
                <a:cs typeface="Calibri"/>
              </a:rPr>
              <a:t>Padronização de conteúdo 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9068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 b="1" i="1" err="1">
                <a:latin typeface="Calibri"/>
                <a:ea typeface="Calibri"/>
                <a:cs typeface="Calibri"/>
              </a:rPr>
              <a:t>Tokens</a:t>
            </a:r>
            <a:r>
              <a:rPr lang="pt-PT" sz="2400" b="1">
                <a:latin typeface="Calibri"/>
                <a:ea typeface="Calibri"/>
                <a:cs typeface="Calibri"/>
              </a:rPr>
              <a:t> Opacos: </a:t>
            </a:r>
            <a:r>
              <a:rPr lang="pt-PT" sz="2400">
                <a:latin typeface="Calibri"/>
                <a:ea typeface="Calibri"/>
                <a:cs typeface="Calibri"/>
              </a:rPr>
              <a:t>Validação via processo 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Token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Introspection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(</a:t>
            </a:r>
            <a:r>
              <a:rPr lang="pt-PT" sz="2400" b="1" i="1">
                <a:latin typeface="Calibri"/>
                <a:ea typeface="Calibri"/>
                <a:cs typeface="Calibri"/>
              </a:rPr>
              <a:t>RFC 7662</a:t>
            </a:r>
            <a:r>
              <a:rPr lang="pt-PT" sz="2400">
                <a:latin typeface="Calibri"/>
                <a:ea typeface="Calibri"/>
                <a:cs typeface="Calibri"/>
              </a:rPr>
              <a:t>);</a:t>
            </a:r>
          </a:p>
          <a:p>
            <a:pPr marL="742950" lvl="1" indent="-285750">
              <a:buFont typeface="Arial,Sans-Serif"/>
              <a:buChar char="•"/>
            </a:pPr>
            <a:endParaRPr lang="pt-PT" sz="2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2400" b="1" i="1">
                <a:latin typeface="Calibri"/>
                <a:ea typeface="Calibri"/>
                <a:cs typeface="Calibri"/>
              </a:rPr>
              <a:t>Injeção e propagação de Contexto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Extração automática de </a:t>
            </a:r>
            <a:r>
              <a:rPr lang="pt-PT" sz="2400" b="1" i="1" err="1">
                <a:latin typeface="Calibri"/>
                <a:ea typeface="Calibri"/>
                <a:cs typeface="Calibri"/>
              </a:rPr>
              <a:t>claims</a:t>
            </a:r>
            <a:r>
              <a:rPr lang="pt-PT" sz="2400" b="1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validadas;</a:t>
            </a:r>
          </a:p>
          <a:p>
            <a:pPr marL="742950" lvl="1" indent="-285750">
              <a:buFont typeface="Arial,Sans-Serif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Injeção de identidade no </a:t>
            </a:r>
            <a:r>
              <a:rPr lang="pt-PT" sz="2400" b="1" i="1">
                <a:latin typeface="Calibri"/>
                <a:ea typeface="Calibri"/>
                <a:cs typeface="Calibri"/>
              </a:rPr>
              <a:t>Gateway Context;</a:t>
            </a:r>
            <a:endParaRPr lang="en-US" sz="2400" b="1" i="1">
              <a:latin typeface="Calibri"/>
              <a:ea typeface="Calibri"/>
              <a:cs typeface="Calibri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2CFCDAC-3591-9859-BDF3-72A78B45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9</a:t>
            </a:fld>
            <a:endParaRPr lang="pt-PT"/>
          </a:p>
        </p:txBody>
      </p:sp>
      <p:sp>
        <p:nvSpPr>
          <p:cNvPr id="8" name="Título 11">
            <a:extLst>
              <a:ext uri="{FF2B5EF4-FFF2-40B4-BE49-F238E27FC236}">
                <a16:creationId xmlns:a16="http://schemas.microsoft.com/office/drawing/2014/main" id="{698DAEEC-5AB2-ACD4-C007-4B4DCD6A64A5}"/>
              </a:ext>
            </a:extLst>
          </p:cNvPr>
          <p:cNvSpPr txBox="1">
            <a:spLocks/>
          </p:cNvSpPr>
          <p:nvPr/>
        </p:nvSpPr>
        <p:spPr>
          <a:xfrm>
            <a:off x="-1018" y="-184748"/>
            <a:ext cx="12183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>
                <a:ea typeface="+mj-lt"/>
                <a:cs typeface="+mj-lt"/>
              </a:rPr>
              <a:t>Autorização e Autenticação</a:t>
            </a:r>
            <a:endParaRPr lang="pt-PT" b="1"/>
          </a:p>
        </p:txBody>
      </p:sp>
    </p:spTree>
    <p:extLst>
      <p:ext uri="{BB962C8B-B14F-4D97-AF65-F5344CB8AC3E}">
        <p14:creationId xmlns:p14="http://schemas.microsoft.com/office/powerpoint/2010/main" val="196796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8D29911-6A3A-39AF-FABE-2EDA9FF7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10</a:t>
            </a:fld>
            <a:endParaRPr lang="pt-PT"/>
          </a:p>
        </p:txBody>
      </p:sp>
      <p:sp>
        <p:nvSpPr>
          <p:cNvPr id="11" name="Título 11">
            <a:extLst>
              <a:ext uri="{FF2B5EF4-FFF2-40B4-BE49-F238E27FC236}">
                <a16:creationId xmlns:a16="http://schemas.microsoft.com/office/drawing/2014/main" id="{65FBE96E-EF7F-CA10-11FB-E55BD3F9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" y="-221511"/>
            <a:ext cx="12188687" cy="1331084"/>
          </a:xfrm>
        </p:spPr>
        <p:txBody>
          <a:bodyPr>
            <a:normAutofit/>
          </a:bodyPr>
          <a:lstStyle/>
          <a:p>
            <a:pPr algn="ctr"/>
            <a:r>
              <a:rPr lang="pt-PT" b="1">
                <a:ea typeface="+mj-lt"/>
                <a:cs typeface="+mj-lt"/>
              </a:rPr>
              <a:t>Autorização e Autenticação</a:t>
            </a:r>
            <a:endParaRPr lang="pt-PT" b="1"/>
          </a:p>
        </p:txBody>
      </p:sp>
      <p:pic>
        <p:nvPicPr>
          <p:cNvPr id="2" name="Marcador de Posição de Conteúdo 1" descr="Uma imagem com texto, diagrama, captura de ecrã, mapa&#10;&#10;Os conteúdos gerados por IA poderão estar incorretos.">
            <a:extLst>
              <a:ext uri="{FF2B5EF4-FFF2-40B4-BE49-F238E27FC236}">
                <a16:creationId xmlns:a16="http://schemas.microsoft.com/office/drawing/2014/main" id="{FA504C23-5EE2-866D-18C9-CDE066FEB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43" y="836659"/>
            <a:ext cx="11812674" cy="482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7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E11B7-FA32-23B7-A3D7-0469281A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11342E-0AC4-A159-ADC9-DE0D4BE43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pt-PT">
              <a:solidFill>
                <a:srgbClr val="FFFFFF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5A3933-4D87-B350-E4A3-D9525DE2A82C}"/>
              </a:ext>
            </a:extLst>
          </p:cNvPr>
          <p:cNvSpPr txBox="1"/>
          <p:nvPr/>
        </p:nvSpPr>
        <p:spPr>
          <a:xfrm>
            <a:off x="416943" y="1049546"/>
            <a:ext cx="1109932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pt-PT" sz="2400">
                <a:ea typeface="+mn-lt"/>
                <a:cs typeface="+mn-lt"/>
              </a:rPr>
              <a:t>Para observabilidade, adotámos o padrão </a:t>
            </a:r>
            <a:r>
              <a:rPr lang="pt-PT" sz="2400" b="1" i="1" err="1">
                <a:ea typeface="+mn-lt"/>
                <a:cs typeface="+mn-lt"/>
              </a:rPr>
              <a:t>OpenTelemetry</a:t>
            </a:r>
            <a:r>
              <a:rPr lang="pt-PT" sz="2400" b="1" i="1" dirty="0">
                <a:ea typeface="+mn-lt"/>
                <a:cs typeface="+mn-lt"/>
              </a:rPr>
              <a:t> </a:t>
            </a:r>
            <a:r>
              <a:rPr lang="pt-PT" sz="2400" b="1">
                <a:ea typeface="+mn-lt"/>
                <a:cs typeface="+mn-lt"/>
              </a:rPr>
              <a:t>(OTLP)</a:t>
            </a:r>
            <a:endParaRPr lang="pt-PT" sz="2400" b="1"/>
          </a:p>
          <a:p>
            <a:pPr marL="342900" indent="-342900" algn="l">
              <a:buFont typeface="Arial"/>
              <a:buChar char="•"/>
            </a:pPr>
            <a:endParaRPr lang="pt-PT" sz="2400"/>
          </a:p>
          <a:p>
            <a:pPr marL="342900" indent="-342900">
              <a:buFont typeface="Arial"/>
              <a:buChar char="•"/>
            </a:pPr>
            <a:r>
              <a:rPr lang="pt-PT" sz="2400">
                <a:ea typeface="+mn-lt"/>
                <a:cs typeface="+mn-lt"/>
              </a:rPr>
              <a:t>Todas as chamadas passam por um </a:t>
            </a:r>
            <a:r>
              <a:rPr lang="pt-PT" sz="2400" b="1" i="1" err="1">
                <a:ea typeface="+mn-lt"/>
                <a:cs typeface="+mn-lt"/>
              </a:rPr>
              <a:t>Metrics</a:t>
            </a:r>
            <a:r>
              <a:rPr lang="pt-PT" sz="2400" b="1" i="1" dirty="0">
                <a:ea typeface="+mn-lt"/>
                <a:cs typeface="+mn-lt"/>
              </a:rPr>
              <a:t> </a:t>
            </a:r>
            <a:r>
              <a:rPr lang="pt-PT" sz="2400" b="1" err="1">
                <a:ea typeface="+mn-lt"/>
                <a:cs typeface="+mn-lt"/>
              </a:rPr>
              <a:t>Interceptor</a:t>
            </a:r>
            <a:r>
              <a:rPr lang="pt-PT" sz="2400" b="1" dirty="0">
                <a:ea typeface="+mn-lt"/>
                <a:cs typeface="+mn-lt"/>
              </a:rPr>
              <a:t> </a:t>
            </a:r>
            <a:r>
              <a:rPr lang="pt-PT" sz="2400">
                <a:ea typeface="+mn-lt"/>
                <a:cs typeface="+mn-lt"/>
              </a:rPr>
              <a:t>que mede a latência, diferencia entre </a:t>
            </a:r>
            <a:r>
              <a:rPr lang="pt-PT" sz="2400" b="1" i="1">
                <a:ea typeface="+mn-lt"/>
                <a:cs typeface="+mn-lt"/>
              </a:rPr>
              <a:t>STREAM </a:t>
            </a:r>
            <a:r>
              <a:rPr lang="pt-PT" sz="2400">
                <a:ea typeface="+mn-lt"/>
                <a:cs typeface="+mn-lt"/>
              </a:rPr>
              <a:t>e </a:t>
            </a:r>
            <a:r>
              <a:rPr lang="pt-PT" sz="2400" b="1" i="1">
                <a:ea typeface="+mn-lt"/>
                <a:cs typeface="+mn-lt"/>
              </a:rPr>
              <a:t>UNARY</a:t>
            </a:r>
            <a:r>
              <a:rPr lang="pt-PT" sz="2400">
                <a:ea typeface="+mn-lt"/>
                <a:cs typeface="+mn-lt"/>
              </a:rPr>
              <a:t>, e adiciona automaticamente contexto (</a:t>
            </a:r>
            <a:r>
              <a:rPr lang="pt-PT" sz="2400" b="1" i="1">
                <a:ea typeface="+mn-lt"/>
                <a:cs typeface="+mn-lt"/>
              </a:rPr>
              <a:t>provider</a:t>
            </a:r>
            <a:r>
              <a:rPr lang="pt-PT" sz="2400">
                <a:ea typeface="+mn-lt"/>
                <a:cs typeface="+mn-lt"/>
              </a:rPr>
              <a:t>,</a:t>
            </a:r>
            <a:r>
              <a:rPr lang="pt-PT" sz="2400" b="1" i="1">
                <a:ea typeface="+mn-lt"/>
                <a:cs typeface="+mn-lt"/>
              </a:rPr>
              <a:t>model</a:t>
            </a:r>
            <a:r>
              <a:rPr lang="pt-PT" sz="2400">
                <a:ea typeface="+mn-lt"/>
                <a:cs typeface="+mn-lt"/>
              </a:rPr>
              <a:t>, etc). </a:t>
            </a:r>
          </a:p>
          <a:p>
            <a:pPr marL="342900" indent="-34290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pt-PT" sz="2400">
                <a:ea typeface="+mn-lt"/>
                <a:cs typeface="+mn-lt"/>
              </a:rPr>
              <a:t>Isto permite uma recolha descentralizada e fácil visualização no </a:t>
            </a:r>
            <a:r>
              <a:rPr lang="pt-PT" sz="2400" b="1" i="1" err="1">
                <a:ea typeface="+mn-lt"/>
                <a:cs typeface="+mn-lt"/>
              </a:rPr>
              <a:t>Grafana</a:t>
            </a:r>
            <a:r>
              <a:rPr lang="pt-PT" sz="2400" b="1" i="1" dirty="0">
                <a:ea typeface="+mn-lt"/>
                <a:cs typeface="+mn-lt"/>
              </a:rPr>
              <a:t> </a:t>
            </a:r>
            <a:r>
              <a:rPr lang="pt-PT" sz="2400">
                <a:ea typeface="+mn-lt"/>
                <a:cs typeface="+mn-lt"/>
              </a:rPr>
              <a:t>ou no </a:t>
            </a:r>
            <a:r>
              <a:rPr lang="pt-PT" sz="2400" b="1" i="1" err="1">
                <a:ea typeface="+mn-lt"/>
                <a:cs typeface="+mn-lt"/>
              </a:rPr>
              <a:t>Prometheus</a:t>
            </a:r>
            <a:r>
              <a:rPr lang="pt-PT" sz="2400">
                <a:ea typeface="+mn-lt"/>
                <a:cs typeface="+mn-lt"/>
              </a:rPr>
              <a:t>.</a:t>
            </a:r>
            <a:endParaRPr lang="pt-PT" sz="2400"/>
          </a:p>
          <a:p>
            <a:endParaRPr lang="pt-PT" sz="2400"/>
          </a:p>
          <a:p>
            <a:endParaRPr lang="pt-PT" sz="2400"/>
          </a:p>
          <a:p>
            <a:pPr marL="342900" indent="-342900">
              <a:buFont typeface="Arial"/>
              <a:buChar char="•"/>
            </a:pPr>
            <a:endParaRPr lang="pt-PT" sz="2400"/>
          </a:p>
          <a:p>
            <a:pPr marL="342900" indent="-342900">
              <a:buFont typeface="Arial"/>
              <a:buChar char="•"/>
            </a:pPr>
            <a:endParaRPr lang="pt-PT" sz="2400"/>
          </a:p>
          <a:p>
            <a:endParaRPr lang="pt-PT"/>
          </a:p>
        </p:txBody>
      </p:sp>
      <p:pic>
        <p:nvPicPr>
          <p:cNvPr id="5" name="Imagem 4" descr="OpenTelemetry Protocol | OpenTelemetry">
            <a:extLst>
              <a:ext uri="{FF2B5EF4-FFF2-40B4-BE49-F238E27FC236}">
                <a16:creationId xmlns:a16="http://schemas.microsoft.com/office/drawing/2014/main" id="{CA4D7EBE-5F73-11F0-85CC-B13D98B88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493" y="168933"/>
            <a:ext cx="1695450" cy="876637"/>
          </a:xfrm>
          <a:prstGeom prst="rect">
            <a:avLst/>
          </a:prstGeom>
        </p:spPr>
      </p:pic>
      <p:pic>
        <p:nvPicPr>
          <p:cNvPr id="8" name="Imagem 7" descr="Uma imagem com texto, captura de ecrã, Software de multimédia, software&#10;&#10;Os conteúdos gerados por IA poderão estar incorretos.">
            <a:extLst>
              <a:ext uri="{FF2B5EF4-FFF2-40B4-BE49-F238E27FC236}">
                <a16:creationId xmlns:a16="http://schemas.microsoft.com/office/drawing/2014/main" id="{18BBE649-AD50-99E4-6187-5B5DAE000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155" y="3842491"/>
            <a:ext cx="7069188" cy="2532467"/>
          </a:xfrm>
          <a:prstGeom prst="rect">
            <a:avLst/>
          </a:prstGeom>
        </p:spPr>
      </p:pic>
      <p:sp>
        <p:nvSpPr>
          <p:cNvPr id="9" name="Seta: Curvada Para a Direita 8">
            <a:extLst>
              <a:ext uri="{FF2B5EF4-FFF2-40B4-BE49-F238E27FC236}">
                <a16:creationId xmlns:a16="http://schemas.microsoft.com/office/drawing/2014/main" id="{52BE39AB-1CA7-D85D-ECC8-6A57286C80FC}"/>
              </a:ext>
            </a:extLst>
          </p:cNvPr>
          <p:cNvSpPr/>
          <p:nvPr/>
        </p:nvSpPr>
        <p:spPr>
          <a:xfrm>
            <a:off x="697109" y="4412232"/>
            <a:ext cx="2474141" cy="1406903"/>
          </a:xfrm>
          <a:prstGeom prst="curved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11948E-FD27-A0A2-55D3-77083F6E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11</a:t>
            </a:fld>
            <a:endParaRPr lang="pt-PT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1AE7BF35-DC24-0DF3-FE5A-8B33C8EF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" y="-215990"/>
            <a:ext cx="12188687" cy="1331084"/>
          </a:xfrm>
        </p:spPr>
        <p:txBody>
          <a:bodyPr>
            <a:normAutofit/>
          </a:bodyPr>
          <a:lstStyle/>
          <a:p>
            <a:pPr algn="ctr"/>
            <a:r>
              <a:rPr lang="pt-PT" b="1"/>
              <a:t>Métricas</a:t>
            </a:r>
          </a:p>
        </p:txBody>
      </p:sp>
    </p:spTree>
    <p:extLst>
      <p:ext uri="{BB962C8B-B14F-4D97-AF65-F5344CB8AC3E}">
        <p14:creationId xmlns:p14="http://schemas.microsoft.com/office/powerpoint/2010/main" val="105734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37A44-FF29-4EBD-356A-20BB1899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3B5ED-DE02-0208-E1A9-0CE55804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519" y="116647"/>
            <a:ext cx="7456557" cy="1336606"/>
          </a:xfrm>
        </p:spPr>
        <p:txBody>
          <a:bodyPr>
            <a:normAutofit/>
          </a:bodyPr>
          <a:lstStyle/>
          <a:p>
            <a:pPr algn="ctr"/>
            <a:r>
              <a:rPr lang="pt-PT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</a:t>
            </a:r>
            <a:r>
              <a:rPr lang="pt-PT">
                <a:solidFill>
                  <a:schemeClr val="bg1"/>
                </a:solidFill>
                <a:latin typeface="Cooper Black"/>
                <a:ea typeface="+mn-lt"/>
                <a:cs typeface="+mn-lt"/>
              </a:rPr>
              <a:t>KMP</a:t>
            </a:r>
            <a:br>
              <a:rPr lang="pt-PT">
                <a:latin typeface="Cooper Black"/>
                <a:ea typeface="+mn-lt"/>
                <a:cs typeface="+mn-lt"/>
              </a:rPr>
            </a:br>
            <a:endParaRPr lang="pt-PT">
              <a:solidFill>
                <a:schemeClr val="bg1"/>
              </a:solidFill>
              <a:latin typeface="Cooper Black"/>
              <a:ea typeface="+mn-lt"/>
              <a:cs typeface="+mn-lt"/>
            </a:endParaRP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58EC7F9-790F-A58F-BD13-6B47298CA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12" y="1031189"/>
            <a:ext cx="11069781" cy="494330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Aptos Display"/>
            </a:endParaRPr>
          </a:p>
          <a:p>
            <a:pPr marL="0" indent="0">
              <a:lnSpc>
                <a:spcPct val="110000"/>
              </a:lnSpc>
              <a:buNone/>
            </a:pPr>
            <a:endParaRPr lang="pt-PT">
              <a:solidFill>
                <a:schemeClr val="bg1"/>
              </a:solidFill>
              <a:latin typeface="Aptos Display"/>
            </a:endParaRPr>
          </a:p>
          <a:p>
            <a:pPr marL="274320" lvl="1">
              <a:lnSpc>
                <a:spcPct val="110000"/>
              </a:lnSpc>
              <a:buNone/>
            </a:pPr>
            <a:endParaRPr lang="pt-PT" sz="1800">
              <a:solidFill>
                <a:schemeClr val="bg1"/>
              </a:solidFill>
              <a:latin typeface="Aptos Display"/>
            </a:endParaRPr>
          </a:p>
          <a:p>
            <a:pPr>
              <a:lnSpc>
                <a:spcPct val="110000"/>
              </a:lnSpc>
              <a:buFont typeface="Wingdings"/>
              <a:buChar char="q"/>
            </a:pPr>
            <a:endParaRPr lang="pt-PT" sz="2000">
              <a:solidFill>
                <a:schemeClr val="bg1"/>
              </a:solidFill>
              <a:latin typeface="Sitka Text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pt-PT" sz="2000">
              <a:solidFill>
                <a:schemeClr val="bg1"/>
              </a:solidFill>
              <a:latin typeface="Aptos Display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6779C4C-6B26-2EDF-2898-69DBFDD655D9}"/>
              </a:ext>
            </a:extLst>
          </p:cNvPr>
          <p:cNvSpPr txBox="1"/>
          <p:nvPr/>
        </p:nvSpPr>
        <p:spPr>
          <a:xfrm>
            <a:off x="571807" y="908756"/>
            <a:ext cx="1058465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endParaRPr lang="pt-PT" sz="2400"/>
          </a:p>
          <a:p>
            <a:pPr marL="342900" indent="-342900">
              <a:buFont typeface="Arial"/>
              <a:buChar char="•"/>
            </a:pPr>
            <a:r>
              <a:rPr lang="pt-PT" sz="2400">
                <a:latin typeface="Calibri"/>
                <a:ea typeface="Calibri"/>
                <a:cs typeface="Calibri"/>
              </a:rPr>
              <a:t>Todo o SDK foi desenvolvida em </a:t>
            </a:r>
            <a:r>
              <a:rPr lang="pt-PT" sz="2400" i="1" err="1">
                <a:latin typeface="Calibri"/>
                <a:ea typeface="Calibri"/>
                <a:cs typeface="Calibri"/>
              </a:rPr>
              <a:t>Kotlin</a:t>
            </a:r>
            <a:r>
              <a:rPr lang="pt-PT" sz="2400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 i="1" err="1">
                <a:latin typeface="Calibri"/>
                <a:ea typeface="Calibri"/>
                <a:cs typeface="Calibri"/>
              </a:rPr>
              <a:t>Multiplatform</a:t>
            </a:r>
            <a:r>
              <a:rPr lang="pt-PT" sz="2400" i="1" dirty="0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(KMP).</a:t>
            </a:r>
            <a:endParaRPr lang="pt-PT">
              <a:latin typeface="Calibri"/>
              <a:ea typeface="Calibri"/>
              <a:cs typeface="Calibri"/>
            </a:endParaRP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1A0E9454-440A-B826-3E8A-50BAEF245F89}"/>
              </a:ext>
            </a:extLst>
          </p:cNvPr>
          <p:cNvSpPr/>
          <p:nvPr/>
        </p:nvSpPr>
        <p:spPr>
          <a:xfrm>
            <a:off x="3246779" y="3605783"/>
            <a:ext cx="1388356" cy="502680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0" name="Imagem 19" descr="Kotlin Multi-platform vs Cross-platform for Mobile Apps in 2025 - Poppins  Mobile">
            <a:extLst>
              <a:ext uri="{FF2B5EF4-FFF2-40B4-BE49-F238E27FC236}">
                <a16:creationId xmlns:a16="http://schemas.microsoft.com/office/drawing/2014/main" id="{762E03E6-4D02-D981-8123-D29AAA343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698" y="3111687"/>
            <a:ext cx="1490871" cy="1490871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01358861-E4AB-E164-4EC9-A0DFDCA2456C}"/>
              </a:ext>
            </a:extLst>
          </p:cNvPr>
          <p:cNvSpPr/>
          <p:nvPr/>
        </p:nvSpPr>
        <p:spPr>
          <a:xfrm rot="20073865">
            <a:off x="6424546" y="2888320"/>
            <a:ext cx="1929795" cy="497159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C652E239-736D-CFE4-7B12-FF3DD08824B1}"/>
              </a:ext>
            </a:extLst>
          </p:cNvPr>
          <p:cNvSpPr/>
          <p:nvPr/>
        </p:nvSpPr>
        <p:spPr>
          <a:xfrm rot="1242839">
            <a:off x="6424691" y="4249575"/>
            <a:ext cx="1858558" cy="502680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473E737-1217-7B40-55DD-E3D8592CC789}"/>
              </a:ext>
            </a:extLst>
          </p:cNvPr>
          <p:cNvSpPr/>
          <p:nvPr/>
        </p:nvSpPr>
        <p:spPr>
          <a:xfrm>
            <a:off x="8536091" y="2057364"/>
            <a:ext cx="2905124" cy="14931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C2A28C2-7F13-E70F-CD6A-6C82B6C95C8E}"/>
              </a:ext>
            </a:extLst>
          </p:cNvPr>
          <p:cNvSpPr/>
          <p:nvPr/>
        </p:nvSpPr>
        <p:spPr>
          <a:xfrm>
            <a:off x="8530569" y="4089363"/>
            <a:ext cx="2905124" cy="14931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CB21898E-82B0-4992-B6FC-84F3AF310B85}"/>
              </a:ext>
            </a:extLst>
          </p:cNvPr>
          <p:cNvCxnSpPr/>
          <p:nvPr/>
        </p:nvCxnSpPr>
        <p:spPr>
          <a:xfrm>
            <a:off x="8530275" y="4550622"/>
            <a:ext cx="2908183" cy="1190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A598E98D-34FD-AD89-BAC8-0C1FA5C4DBAD}"/>
              </a:ext>
            </a:extLst>
          </p:cNvPr>
          <p:cNvCxnSpPr>
            <a:cxnSpLocks/>
          </p:cNvCxnSpPr>
          <p:nvPr/>
        </p:nvCxnSpPr>
        <p:spPr>
          <a:xfrm>
            <a:off x="8535797" y="2546230"/>
            <a:ext cx="2908183" cy="1190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6CE8927-D4E6-E6A5-92F3-5F16EDF09AF3}"/>
              </a:ext>
            </a:extLst>
          </p:cNvPr>
          <p:cNvSpPr txBox="1"/>
          <p:nvPr/>
        </p:nvSpPr>
        <p:spPr>
          <a:xfrm>
            <a:off x="8973930" y="2091635"/>
            <a:ext cx="26371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/>
              <a:t>TARGET:  JVM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920AB07-51AA-8385-707A-EC209D183447}"/>
              </a:ext>
            </a:extLst>
          </p:cNvPr>
          <p:cNvSpPr txBox="1"/>
          <p:nvPr/>
        </p:nvSpPr>
        <p:spPr>
          <a:xfrm>
            <a:off x="8659191" y="4090503"/>
            <a:ext cx="31948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400" b="1"/>
              <a:t>TARGET:  NODE.JS</a:t>
            </a:r>
          </a:p>
        </p:txBody>
      </p:sp>
      <p:pic>
        <p:nvPicPr>
          <p:cNvPr id="47" name="Imagem 46" descr="File:Node.js logo.svg - Wikimedia Commons">
            <a:extLst>
              <a:ext uri="{FF2B5EF4-FFF2-40B4-BE49-F238E27FC236}">
                <a16:creationId xmlns:a16="http://schemas.microsoft.com/office/drawing/2014/main" id="{0DAEBC0B-8184-96AD-AF1C-3959743F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967" y="4589668"/>
            <a:ext cx="1351447" cy="927654"/>
          </a:xfrm>
          <a:prstGeom prst="rect">
            <a:avLst/>
          </a:prstGeom>
        </p:spPr>
      </p:pic>
      <p:pic>
        <p:nvPicPr>
          <p:cNvPr id="48" name="Imagem 47" descr="Java - Free logo icons">
            <a:extLst>
              <a:ext uri="{FF2B5EF4-FFF2-40B4-BE49-F238E27FC236}">
                <a16:creationId xmlns:a16="http://schemas.microsoft.com/office/drawing/2014/main" id="{4A2F57E7-1E74-D14C-000E-A395EF44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607" y="2637938"/>
            <a:ext cx="739914" cy="739914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989900B6-0706-AAED-6BBE-19203347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12</a:t>
            </a:fld>
            <a:endParaRPr lang="pt-PT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95060DE-D453-C68E-2234-A8F7C9FAE453}"/>
              </a:ext>
            </a:extLst>
          </p:cNvPr>
          <p:cNvSpPr txBox="1">
            <a:spLocks/>
          </p:cNvSpPr>
          <p:nvPr/>
        </p:nvSpPr>
        <p:spPr>
          <a:xfrm>
            <a:off x="4418" y="-203614"/>
            <a:ext cx="12188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>
                <a:solidFill>
                  <a:srgbClr val="000000"/>
                </a:solidFill>
                <a:latin typeface="Aptos Display"/>
              </a:rPr>
              <a:t>Distribution - KMP</a:t>
            </a:r>
            <a:endParaRPr lang="pt-PT" b="1">
              <a:solidFill>
                <a:schemeClr val="bg1"/>
              </a:solidFill>
              <a:latin typeface="Aptos Display"/>
            </a:endParaRPr>
          </a:p>
        </p:txBody>
      </p:sp>
      <p:pic>
        <p:nvPicPr>
          <p:cNvPr id="8" name="Imagem 7" descr="File:Apache Maven logo.svg - Wikimedia Commons">
            <a:extLst>
              <a:ext uri="{FF2B5EF4-FFF2-40B4-BE49-F238E27FC236}">
                <a16:creationId xmlns:a16="http://schemas.microsoft.com/office/drawing/2014/main" id="{65CFA8B4-FCB6-C8E0-C6E4-57C6120CE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26184">
            <a:off x="6778797" y="2764055"/>
            <a:ext cx="1497059" cy="378944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440E50B-8120-3A4A-D416-515A58CD5C28}"/>
              </a:ext>
            </a:extLst>
          </p:cNvPr>
          <p:cNvSpPr/>
          <p:nvPr/>
        </p:nvSpPr>
        <p:spPr>
          <a:xfrm>
            <a:off x="497929" y="3111687"/>
            <a:ext cx="2506761" cy="1587501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 err="1">
                <a:solidFill>
                  <a:schemeClr val="tx1"/>
                </a:solidFill>
              </a:rPr>
              <a:t>OmniAi</a:t>
            </a:r>
            <a:r>
              <a:rPr lang="pt-PT" sz="2800" b="1">
                <a:solidFill>
                  <a:schemeClr val="tx1"/>
                </a:solidFill>
              </a:rPr>
              <a:t>-SDK</a:t>
            </a:r>
            <a:endParaRPr lang="pt-PT" b="1">
              <a:solidFill>
                <a:schemeClr val="tx1"/>
              </a:solidFill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D8E3B7D7-F802-F31F-3B45-7631F8DE40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309" t="36777" r="36307" b="36554"/>
          <a:stretch>
            <a:fillRect/>
          </a:stretch>
        </p:blipFill>
        <p:spPr>
          <a:xfrm>
            <a:off x="6770751" y="4445952"/>
            <a:ext cx="1022124" cy="3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1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 animBg="1"/>
      <p:bldP spid="24" grpId="0" animBg="1"/>
      <p:bldP spid="33" grpId="0"/>
      <p:bldP spid="43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72815-7CC2-5074-A7FB-EA440DE8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B49BC-FCA1-6083-7F0E-D2CD888B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" y="690"/>
            <a:ext cx="12177642" cy="1325563"/>
          </a:xfrm>
        </p:spPr>
        <p:txBody>
          <a:bodyPr/>
          <a:lstStyle/>
          <a:p>
            <a:pPr algn="ctr"/>
            <a:r>
              <a:rPr lang="pt-PT" b="1">
                <a:ea typeface="+mj-lt"/>
                <a:cs typeface="+mj-lt"/>
              </a:rPr>
              <a:t>Dificuldades</a:t>
            </a:r>
            <a:endParaRPr lang="pt-PT" b="1">
              <a:latin typeface="Aptos Display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C9A83E8-4D98-379D-2792-F77C23C95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chemeClr val="bg1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1ABEBA-506B-F806-4E56-2A6668A6C6E8}"/>
              </a:ext>
            </a:extLst>
          </p:cNvPr>
          <p:cNvSpPr txBox="1"/>
          <p:nvPr/>
        </p:nvSpPr>
        <p:spPr>
          <a:xfrm>
            <a:off x="301924" y="1193320"/>
            <a:ext cx="11516264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pt-PT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 i="1" dirty="0" err="1">
                <a:ea typeface="+mn-lt"/>
                <a:cs typeface="+mn-lt"/>
              </a:rPr>
              <a:t>Streaming</a:t>
            </a:r>
            <a:r>
              <a:rPr lang="pt-PT" sz="2400" b="1" i="1">
                <a:ea typeface="+mn-lt"/>
                <a:cs typeface="+mn-lt"/>
              </a:rPr>
              <a:t> </a:t>
            </a:r>
            <a:r>
              <a:rPr lang="pt-PT" sz="2400" b="1">
                <a:ea typeface="+mn-lt"/>
                <a:cs typeface="+mn-lt"/>
              </a:rPr>
              <a:t>(SSE)</a:t>
            </a:r>
            <a:r>
              <a:rPr lang="pt-PT" sz="2400">
                <a:ea typeface="+mn-lt"/>
                <a:cs typeface="+mn-lt"/>
              </a:rPr>
              <a:t> - Diferenças de comportamento entre </a:t>
            </a:r>
            <a:r>
              <a:rPr lang="pt-PT" sz="2400" dirty="0" err="1">
                <a:ea typeface="+mn-lt"/>
                <a:cs typeface="+mn-lt"/>
              </a:rPr>
              <a:t>providers</a:t>
            </a:r>
            <a:r>
              <a:rPr lang="pt-PT" sz="24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ea typeface="+mn-lt"/>
                <a:cs typeface="+mn-lt"/>
              </a:rPr>
              <a:t>Modelo Comum de Dados</a:t>
            </a:r>
            <a:r>
              <a:rPr lang="pt-PT" sz="2400">
                <a:ea typeface="+mn-lt"/>
                <a:cs typeface="+mn-lt"/>
              </a:rPr>
              <a:t> - Garantir máxima compatibilidade entre todas as </a:t>
            </a:r>
            <a:r>
              <a:rPr lang="pt-PT" sz="2400" dirty="0" err="1">
                <a:ea typeface="+mn-lt"/>
                <a:cs typeface="+mn-lt"/>
              </a:rPr>
              <a:t>APIs</a:t>
            </a:r>
            <a:r>
              <a:rPr lang="pt-PT" sz="2400">
                <a:ea typeface="+mn-lt"/>
                <a:cs typeface="+mn-lt"/>
              </a:rPr>
              <a:t>.</a:t>
            </a:r>
            <a:endParaRPr lang="pt-PT" sz="2400"/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ea typeface="+mn-lt"/>
                <a:cs typeface="+mn-lt"/>
              </a:rPr>
              <a:t>Distribuição NPM (KMP)</a:t>
            </a:r>
            <a:r>
              <a:rPr lang="pt-PT" sz="2400">
                <a:ea typeface="+mn-lt"/>
                <a:cs typeface="+mn-lt"/>
              </a:rPr>
              <a:t>  - Tipos que não compilam nativamente para JavaScript → Dificuldades de uso e necessidade de conversões manuais.</a:t>
            </a:r>
            <a:endParaRPr lang="pt-PT" sz="2400"/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 i="1">
                <a:ea typeface="+mn-lt"/>
                <a:cs typeface="+mn-lt"/>
              </a:rPr>
              <a:t>Design</a:t>
            </a:r>
            <a:r>
              <a:rPr lang="pt-PT" sz="2400" b="1">
                <a:ea typeface="+mn-lt"/>
                <a:cs typeface="+mn-lt"/>
              </a:rPr>
              <a:t> do SDK -</a:t>
            </a:r>
            <a:r>
              <a:rPr lang="pt-PT" sz="2400">
                <a:ea typeface="+mn-lt"/>
                <a:cs typeface="+mn-lt"/>
              </a:rPr>
              <a:t> Ser </a:t>
            </a:r>
            <a:r>
              <a:rPr lang="pt-PT" sz="2400" b="1">
                <a:ea typeface="+mn-lt"/>
                <a:cs typeface="+mn-lt"/>
              </a:rPr>
              <a:t>abstrato</a:t>
            </a:r>
            <a:r>
              <a:rPr lang="pt-PT" sz="2400">
                <a:ea typeface="+mn-lt"/>
                <a:cs typeface="+mn-lt"/>
              </a:rPr>
              <a:t> e </a:t>
            </a:r>
            <a:r>
              <a:rPr lang="pt-PT" sz="2400" b="1">
                <a:ea typeface="+mn-lt"/>
                <a:cs typeface="+mn-lt"/>
              </a:rPr>
              <a:t>flexível</a:t>
            </a:r>
            <a:r>
              <a:rPr lang="pt-PT" sz="2400">
                <a:ea typeface="+mn-lt"/>
                <a:cs typeface="+mn-lt"/>
              </a:rPr>
              <a:t>, mas manter se de uma forma </a:t>
            </a:r>
            <a:r>
              <a:rPr lang="pt-PT" sz="2400" b="1">
                <a:ea typeface="+mn-lt"/>
                <a:cs typeface="+mn-lt"/>
              </a:rPr>
              <a:t>simples</a:t>
            </a:r>
            <a:r>
              <a:rPr lang="pt-PT" sz="2400">
                <a:ea typeface="+mn-lt"/>
                <a:cs typeface="+mn-lt"/>
              </a:rPr>
              <a:t> e fácil de usar.</a:t>
            </a:r>
            <a:endParaRPr lang="pt-PT" sz="2400"/>
          </a:p>
          <a:p>
            <a:pPr algn="l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C332F14-30BE-CBB8-AC4B-9FAD0CD2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2985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D3E7F-5310-61EF-22A0-E7DF73BD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51" y="-159440"/>
            <a:ext cx="12194208" cy="1325563"/>
          </a:xfrm>
        </p:spPr>
        <p:txBody>
          <a:bodyPr/>
          <a:lstStyle/>
          <a:p>
            <a:pPr algn="ctr"/>
            <a:r>
              <a:rPr lang="pt-PT" b="1">
                <a:latin typeface="Aptos Display"/>
              </a:rPr>
              <a:t>Próximos Passos</a:t>
            </a:r>
            <a:endParaRPr lang="pt-PT" b="1" dirty="0">
              <a:latin typeface="Aptos Display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38C0D7E-F6BD-3DD3-95EB-3F9B84DF1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8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endParaRPr lang="pt-PT"/>
          </a:p>
          <a:p>
            <a:pPr marL="0" indent="0">
              <a:buNone/>
            </a:pPr>
            <a:endParaRPr lang="pt-PT">
              <a:solidFill>
                <a:schemeClr val="bg1"/>
              </a:solidFill>
            </a:endParaRPr>
          </a:p>
          <a:p>
            <a:pPr>
              <a:buFont typeface="Wingdings" panose="020B0604020202020204" pitchFamily="34" charset="0"/>
              <a:buChar char="q"/>
            </a:pPr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A16A0C-A024-C710-69FE-E33A08E68F1F}"/>
              </a:ext>
            </a:extLst>
          </p:cNvPr>
          <p:cNvSpPr txBox="1"/>
          <p:nvPr/>
        </p:nvSpPr>
        <p:spPr>
          <a:xfrm>
            <a:off x="369540" y="1168315"/>
            <a:ext cx="11444377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2400" b="1" i="1">
                <a:latin typeface="Calibri"/>
                <a:ea typeface="Calibri"/>
                <a:cs typeface="Calibri"/>
              </a:rPr>
              <a:t>MCP Server</a:t>
            </a:r>
            <a:r>
              <a:rPr lang="pt-PT" sz="2400" i="1">
                <a:latin typeface="Calibri"/>
                <a:ea typeface="Calibri"/>
                <a:cs typeface="Calibri"/>
              </a:rPr>
              <a:t> </a:t>
            </a:r>
            <a:r>
              <a:rPr lang="pt-PT" sz="2400">
                <a:latin typeface="Calibri"/>
                <a:ea typeface="Calibri"/>
                <a:cs typeface="Calibri"/>
              </a:rPr>
              <a:t>- Criar servidor MCP e expor métricas via OTLP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Streaming</a:t>
            </a:r>
            <a:r>
              <a:rPr lang="pt-PT" sz="2400">
                <a:latin typeface="Calibri"/>
                <a:ea typeface="Calibri"/>
                <a:cs typeface="Calibri"/>
              </a:rPr>
              <a:t> - Implementar bufferização (maior foco no Gemini)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Ferramentas (</a:t>
            </a:r>
            <a:r>
              <a:rPr lang="pt-PT" sz="2400" b="1" i="1">
                <a:latin typeface="Calibri"/>
                <a:ea typeface="Calibri"/>
                <a:cs typeface="Calibri"/>
              </a:rPr>
              <a:t>Tools</a:t>
            </a:r>
            <a:r>
              <a:rPr lang="pt-PT" sz="2400" b="1">
                <a:latin typeface="Calibri"/>
                <a:ea typeface="Calibri"/>
                <a:cs typeface="Calibri"/>
              </a:rPr>
              <a:t>) -</a:t>
            </a:r>
            <a:r>
              <a:rPr lang="pt-PT" sz="2400">
                <a:latin typeface="Calibri"/>
                <a:ea typeface="Calibri"/>
                <a:cs typeface="Calibri"/>
              </a:rPr>
              <a:t> Injeção dinâmica de </a:t>
            </a:r>
            <a:r>
              <a:rPr lang="pt-PT" sz="2400" i="1">
                <a:latin typeface="Calibri"/>
                <a:ea typeface="Calibri"/>
                <a:cs typeface="Calibri"/>
              </a:rPr>
              <a:t>tools</a:t>
            </a:r>
            <a:r>
              <a:rPr lang="pt-PT" sz="2400">
                <a:latin typeface="Calibri"/>
                <a:ea typeface="Calibri"/>
                <a:cs typeface="Calibri"/>
              </a:rPr>
              <a:t> + execução via MCP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Segurança e Credenciais -</a:t>
            </a:r>
            <a:r>
              <a:rPr lang="pt-PT" sz="2400">
                <a:latin typeface="Calibri"/>
                <a:ea typeface="Calibri"/>
                <a:cs typeface="Calibri"/>
              </a:rPr>
              <a:t> Suporte a API Keys seguras + integração com </a:t>
            </a:r>
            <a:r>
              <a:rPr lang="pt-PT" sz="2400" i="1">
                <a:latin typeface="Calibri"/>
                <a:ea typeface="Calibri"/>
                <a:cs typeface="Calibri"/>
              </a:rPr>
              <a:t>Key Vaults</a:t>
            </a: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pt-PT" sz="2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2400" b="1">
                <a:latin typeface="Calibri"/>
                <a:ea typeface="Calibri"/>
                <a:cs typeface="Calibri"/>
              </a:rPr>
              <a:t>Testes</a:t>
            </a:r>
            <a:r>
              <a:rPr lang="pt-PT" sz="2400">
                <a:latin typeface="Calibri"/>
                <a:ea typeface="Calibri"/>
                <a:cs typeface="Calibri"/>
              </a:rPr>
              <a:t> - Testes End-to-End + validação de contracts com os SDKs oficiais dos fornecedores</a:t>
            </a:r>
          </a:p>
          <a:p>
            <a:pPr algn="l"/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6422C6D-7052-910F-FAD6-5A584416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867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4A83A-85D5-2317-7AF8-89EED6EB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" y="2655578"/>
            <a:ext cx="12188686" cy="1342127"/>
          </a:xfrm>
        </p:spPr>
        <p:txBody>
          <a:bodyPr>
            <a:normAutofit/>
          </a:bodyPr>
          <a:lstStyle/>
          <a:p>
            <a:pPr algn="ctr"/>
            <a:r>
              <a:rPr lang="pt-PT" sz="6600">
                <a:latin typeface="Aptos Display"/>
              </a:rPr>
              <a:t>Obrigado!!</a:t>
            </a:r>
            <a:endParaRPr lang="pt-PT"/>
          </a:p>
        </p:txBody>
      </p:sp>
      <p:sp>
        <p:nvSpPr>
          <p:cNvPr id="8" name="Marcador de Posição de Conteúdo 7">
            <a:extLst>
              <a:ext uri="{FF2B5EF4-FFF2-40B4-BE49-F238E27FC236}">
                <a16:creationId xmlns:a16="http://schemas.microsoft.com/office/drawing/2014/main" id="{6A15B6DD-B9B9-B161-A164-315FDEBBD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200" y="4580438"/>
            <a:ext cx="4927601" cy="11066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PT"/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3E9FF696-257D-CA47-77B4-3B7923AF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595880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Ecrã Panorâmico</PresentationFormat>
  <Slides>15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6" baseType="lpstr">
      <vt:lpstr>Tema do Office</vt:lpstr>
      <vt:lpstr>OmniAI Gateway</vt:lpstr>
      <vt:lpstr>Apresentação do PowerPoint</vt:lpstr>
      <vt:lpstr>Apresentação do PowerPoint</vt:lpstr>
      <vt:lpstr>Apresentação do PowerPoint</vt:lpstr>
      <vt:lpstr>Arquitetura</vt:lpstr>
      <vt:lpstr>Apresentação do PowerPoint</vt:lpstr>
      <vt:lpstr>Apresentação do PowerPoint</vt:lpstr>
      <vt:lpstr>Apresentação do PowerPoint</vt:lpstr>
      <vt:lpstr>Apresentação do PowerPoint</vt:lpstr>
      <vt:lpstr>Autorização e Autenticação</vt:lpstr>
      <vt:lpstr>Métricas</vt:lpstr>
      <vt:lpstr> KMP </vt:lpstr>
      <vt:lpstr>Dificuldades</vt:lpstr>
      <vt:lpstr>Próximos Passos</vt:lpstr>
      <vt:lpstr>Obrigado!!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106</cp:revision>
  <dcterms:created xsi:type="dcterms:W3CDTF">2026-03-17T21:50:15Z</dcterms:created>
  <dcterms:modified xsi:type="dcterms:W3CDTF">2026-06-03T14:41:06Z</dcterms:modified>
</cp:coreProperties>
</file>